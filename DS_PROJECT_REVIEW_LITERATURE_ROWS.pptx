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903" r:id="rId6"/>
    <p:sldId id="902" r:id="rId7"/>
    <p:sldId id="258" r:id="rId8"/>
    <p:sldId id="905" r:id="rId9"/>
    <p:sldId id="906" r:id="rId10"/>
    <p:sldId id="907" r:id="rId11"/>
    <p:sldId id="259" r:id="rId12"/>
    <p:sldId id="260" r:id="rId13"/>
    <p:sldId id="9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16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16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16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10/16/2026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16 October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236571943"/>
              </p:ext>
            </p:extLst>
          </p:nvPr>
        </p:nvGraphicFramePr>
        <p:xfrm>
          <a:off x="8193271" y="4898509"/>
          <a:ext cx="3702050" cy="8229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r>
                        <a:rPr sz="1200">
                          <a:latin typeface="Aptos"/>
                        </a:rPr>
                        <a:t>TEAM MEMBERS</a:t>
                      </a:r>
                    </a:p>
                    <a:p>
                      <a:endParaRPr sz="1200">
                        <a:latin typeface="Aptos"/>
                      </a:endParaRPr>
                    </a:p>
                    <a:p>
                      <a:r>
                        <a:rPr sz="1200">
                          <a:latin typeface="Aptos"/>
                        </a:rPr>
                        <a:t>B. Harneesh  —  2420030563</a:t>
                      </a:r>
                    </a:p>
                    <a:p>
                      <a:r>
                        <a:rPr sz="1200">
                          <a:latin typeface="Aptos"/>
                        </a:rPr>
                        <a:t>Dhanush      —  2420030639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sz="1000">
                          <a:latin typeface="Aptos"/>
                        </a:rPr>
                        <a:t>Under the Guidance of</a:t>
                      </a:r>
                    </a:p>
                    <a:p>
                      <a:r>
                        <a:rPr sz="1000">
                          <a:latin typeface="Aptos"/>
                        </a:rPr>
                        <a:t>Dr. N. Sunanda</a:t>
                      </a:r>
                    </a:p>
                    <a:p>
                      <a:r>
                        <a:rPr sz="1000">
                          <a:latin typeface="Aptos"/>
                        </a:rPr>
                        <a:t>Professor,</a:t>
                      </a:r>
                    </a:p>
                    <a:p>
                      <a:r>
                        <a:rPr sz="1000">
                          <a:latin typeface="Aptos"/>
                        </a:rPr>
                        <a:t>Department of Computer Science and Engineering,</a:t>
                      </a:r>
                    </a:p>
                    <a:p>
                      <a:r>
                        <a:rPr sz="1000">
                          <a:latin typeface="Aptos"/>
                        </a:rPr>
                        <a:t>KLH CSE Bowrampet Campus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pPr algn="ctr"/>
            <a:r>
              <a:rPr sz="1100"/>
              <a:t>2026-27, ODD Semester</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pPr algn="ctr"/>
            <a:r>
              <a:rPr sz="1000" b="1"/>
              <a:t>DATA SCIENCE (24AD3107)  |  SEC 08  |  TEAM 24</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r>
              <a:t>1</a:t>
            </a: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15636" y="1451772"/>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538061" y="1725546"/>
            <a:ext cx="10715625" cy="584775"/>
          </a:xfrm>
          <a:prstGeom prst="rect">
            <a:avLst/>
          </a:prstGeom>
          <a:noFill/>
        </p:spPr>
        <p:txBody>
          <a:bodyPr wrap="square">
            <a:spAutoFit/>
          </a:bodyPr>
          <a:lstStyle/>
          <a:p>
            <a:pPr lvl="0" algn="ctr">
              <a:defRPr/>
            </a:pPr>
            <a:r>
              <a:rPr sz="3200" b="1" dirty="0"/>
              <a:t>Interactive EDA Dashboard</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r>
              <a:t>2</a:t>
            </a: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42" name="TextBox 41"/>
          <p:cNvSpPr txBox="1"/>
          <p:nvPr/>
        </p:nvSpPr>
        <p:spPr>
          <a:xfrm>
            <a:off x="7771538" y="1171128"/>
            <a:ext cx="3657600" cy="502920"/>
          </a:xfrm>
          <a:prstGeom prst="rect">
            <a:avLst/>
          </a:prstGeom>
          <a:noFill/>
        </p:spPr>
        <p:txBody>
          <a:bodyPr wrap="square" lIns="45720" rIns="45720" anchor="t">
            <a:spAutoFit/>
          </a:bodyPr>
          <a:lstStyle/>
          <a:p>
            <a:pPr>
              <a:defRPr sz="1600">
                <a:solidFill>
                  <a:srgbClr val="2D2D2D"/>
                </a:solidFill>
                <a:latin typeface="Aptos"/>
              </a:defRPr>
            </a:pPr>
            <a:r>
              <a:t>• Introduction &amp; Problem Statement</a:t>
            </a:r>
          </a:p>
          <a:p>
            <a:pPr>
              <a:defRPr sz="1600">
                <a:solidFill>
                  <a:srgbClr val="2D2D2D"/>
                </a:solidFill>
                <a:latin typeface="Aptos"/>
              </a:defRPr>
            </a:pPr>
            <a:r>
              <a:t>• Research Objectives</a:t>
            </a:r>
          </a:p>
          <a:p>
            <a:pPr>
              <a:defRPr sz="1600">
                <a:solidFill>
                  <a:srgbClr val="2D2D2D"/>
                </a:solidFill>
                <a:latin typeface="Aptos"/>
              </a:defRPr>
            </a:pPr>
            <a:r>
              <a:t>• Recent Literature Survey (2024–2025)</a:t>
            </a:r>
          </a:p>
          <a:p>
            <a:pPr>
              <a:defRPr sz="1600">
                <a:solidFill>
                  <a:srgbClr val="2D2D2D"/>
                </a:solidFill>
                <a:latin typeface="Aptos"/>
              </a:defRPr>
            </a:pPr>
            <a:r>
              <a:t>• Problem Gap Identification</a:t>
            </a:r>
          </a:p>
          <a:p>
            <a:pPr>
              <a:defRPr sz="1600">
                <a:solidFill>
                  <a:srgbClr val="2D2D2D"/>
                </a:solidFill>
                <a:latin typeface="Aptos"/>
              </a:defRPr>
            </a:pPr>
            <a:r>
              <a:t>• Proposed Methodology</a:t>
            </a:r>
          </a:p>
          <a:p>
            <a:pPr>
              <a:defRPr sz="1600">
                <a:solidFill>
                  <a:srgbClr val="2D2D2D"/>
                </a:solidFill>
                <a:latin typeface="Aptos"/>
              </a:defRPr>
            </a:pPr>
            <a:r>
              <a:t>• Algorithms Used</a:t>
            </a:r>
          </a:p>
          <a:p>
            <a:pPr>
              <a:defRPr sz="1600">
                <a:solidFill>
                  <a:srgbClr val="2D2D2D"/>
                </a:solidFill>
                <a:latin typeface="Aptos"/>
              </a:defRPr>
            </a:pPr>
            <a:r>
              <a:t>• Implementation Details</a:t>
            </a:r>
          </a:p>
          <a:p>
            <a:pPr>
              <a:defRPr sz="1600">
                <a:solidFill>
                  <a:srgbClr val="2D2D2D"/>
                </a:solidFill>
                <a:latin typeface="Aptos"/>
              </a:defRPr>
            </a:pPr>
            <a:r>
              <a:t>• Innovation, Creativity &amp; Novelty</a:t>
            </a:r>
          </a:p>
          <a:p>
            <a:pPr>
              <a:defRPr sz="1600">
                <a:solidFill>
                  <a:srgbClr val="2D2D2D"/>
                </a:solidFill>
                <a:latin typeface="Aptos"/>
              </a:defRPr>
            </a:pPr>
            <a:r>
              <a:t>• Feasibility &amp; Project Plan</a:t>
            </a:r>
          </a:p>
          <a:p>
            <a:pPr>
              <a:defRPr sz="1600">
                <a:solidFill>
                  <a:srgbClr val="2D2D2D"/>
                </a:solidFill>
                <a:latin typeface="Aptos"/>
              </a:defRPr>
            </a:pPr>
            <a:r>
              <a:t>• Conclusion &amp; Future Scope</a:t>
            </a:r>
          </a:p>
          <a:p>
            <a:pPr>
              <a:defRPr sz="1600">
                <a:solidFill>
                  <a:srgbClr val="2D2D2D"/>
                </a:solidFill>
                <a:latin typeface="Aptos"/>
              </a:defRPr>
            </a:pPr>
            <a:r>
              <a:t>• References</a:t>
            </a: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914400" y="1874519"/>
            <a:ext cx="9326880" cy="2971800"/>
          </a:xfrm>
          <a:prstGeom prst="rect">
            <a:avLst/>
          </a:prstGeom>
          <a:noFill/>
        </p:spPr>
        <p:txBody>
          <a:bodyPr wrap="square" lIns="45720" rIns="45720" anchor="t">
            <a:spAutoFit/>
          </a:bodyPr>
          <a:lstStyle/>
          <a:p>
            <a:pPr algn="l"/>
            <a:r>
              <a:rPr sz="1800" b="0">
                <a:solidFill>
                  <a:srgbClr val="1E1E1E"/>
                </a:solidFill>
                <a:latin typeface="Aptos"/>
              </a:rPr>
              <a:t>Traditional exploratory data analysis requires repeated coding for each dataset. Users often need separate scripts to inspect data types, missing values, descriptive statistics, distributions, outliers, and relationships between variables.
This creates repetitive work and can be difficult for beginners. A reusable dashboard is therefore proposed to accept a structured CSV file and automatically provide a consistent initial EDA workflow through statistics and visualizations.</a:t>
            </a:r>
          </a:p>
        </p:txBody>
      </p:sp>
      <p:sp>
        <p:nvSpPr>
          <p:cNvPr id="8" name="TextBox 7"/>
          <p:cNvSpPr txBox="1"/>
          <p:nvPr/>
        </p:nvSpPr>
        <p:spPr>
          <a:xfrm>
            <a:off x="914400" y="4892040"/>
            <a:ext cx="9326880" cy="594360"/>
          </a:xfrm>
          <a:prstGeom prst="rect">
            <a:avLst/>
          </a:prstGeom>
          <a:noFill/>
        </p:spPr>
        <p:txBody>
          <a:bodyPr wrap="square" lIns="45720" rIns="45720" anchor="t">
            <a:spAutoFit/>
          </a:bodyPr>
          <a:lstStyle/>
          <a:p>
            <a:pPr algn="ctr"/>
            <a:r>
              <a:rPr sz="1700" b="1">
                <a:solidFill>
                  <a:srgbClr val="1E1E1E"/>
                </a:solidFill>
                <a:latin typeface="Aptos"/>
              </a:rPr>
              <a:t>Proposed input: CSV dataset  →  Processing &amp; EDA  →  Interactive visual insights</a:t>
            </a:r>
          </a:p>
        </p:txBody>
      </p:sp>
      <p:sp>
        <p:nvSpPr>
          <p:cNvPr id="9" name="TextBox 8"/>
          <p:cNvSpPr txBox="1"/>
          <p:nvPr/>
        </p:nvSpPr>
        <p:spPr>
          <a:xfrm>
            <a:off x="914400" y="5440680"/>
            <a:ext cx="9326880" cy="411480"/>
          </a:xfrm>
          <a:prstGeom prst="rect">
            <a:avLst/>
          </a:prstGeom>
          <a:noFill/>
        </p:spPr>
        <p:txBody>
          <a:bodyPr wrap="square" lIns="45720" rIns="45720" anchor="t">
            <a:spAutoFit/>
          </a:bodyPr>
          <a:lstStyle/>
          <a:p>
            <a:pPr algn="ctr"/>
            <a:r>
              <a:rPr sz="1400" b="0">
                <a:solidFill>
                  <a:srgbClr val="1E1E1E"/>
                </a:solidFill>
                <a:latin typeface="Aptos"/>
              </a:rPr>
              <a:t>Focus: make preliminary dataset exploration faster, reusable, and easier to understand.</a:t>
            </a:r>
          </a:p>
        </p:txBody>
      </p:sp>
      <p:sp>
        <p:nvSpPr>
          <p:cNvPr id="10" name="TextBox 9"/>
          <p:cNvSpPr txBox="1"/>
          <p:nvPr/>
        </p:nvSpPr>
        <p:spPr>
          <a:xfrm>
            <a:off x="9646920" y="5797296"/>
            <a:ext cx="502920" cy="228600"/>
          </a:xfrm>
          <a:prstGeom prst="rect">
            <a:avLst/>
          </a:prstGeom>
          <a:noFill/>
        </p:spPr>
        <p:txBody>
          <a:bodyPr wrap="square" lIns="45720" rIns="45720" anchor="t">
            <a:spAutoFit/>
          </a:bodyPr>
          <a:lstStyle/>
          <a:p>
            <a:r>
              <a:t>3</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1051560" y="1828800"/>
            <a:ext cx="9052560" cy="3520440"/>
          </a:xfrm>
          <a:prstGeom prst="rect">
            <a:avLst/>
          </a:prstGeom>
          <a:noFill/>
        </p:spPr>
        <p:txBody>
          <a:bodyPr wrap="square" lIns="73152" tIns="36576" rIns="73152" bIns="36576">
            <a:spAutoFit/>
          </a:bodyPr>
          <a:lstStyle/>
          <a:p>
            <a:pPr>
              <a:spcAft>
                <a:spcPts val="700"/>
              </a:spcAft>
              <a:defRPr sz="1800">
                <a:solidFill>
                  <a:srgbClr val="232323"/>
                </a:solidFill>
                <a:latin typeface="Aptos"/>
              </a:defRPr>
            </a:pPr>
            <a:r>
              <a:t>• Develop a web-based dashboard for uploading structured CSV datasets.</a:t>
            </a:r>
          </a:p>
          <a:p>
            <a:pPr>
              <a:spcAft>
                <a:spcPts val="700"/>
              </a:spcAft>
              <a:defRPr sz="1800">
                <a:solidFill>
                  <a:srgbClr val="232323"/>
                </a:solidFill>
                <a:latin typeface="Aptos"/>
              </a:defRPr>
            </a:pPr>
            <a:r>
              <a:t>• Automatically inspect dataset dimensions, column names, data types, missing values, and duplicates.</a:t>
            </a:r>
          </a:p>
          <a:p>
            <a:pPr>
              <a:spcAft>
                <a:spcPts val="700"/>
              </a:spcAft>
              <a:defRPr sz="1800">
                <a:solidFill>
                  <a:srgbClr val="232323"/>
                </a:solidFill>
                <a:latin typeface="Aptos"/>
              </a:defRPr>
            </a:pPr>
            <a:r>
              <a:t>• Generate descriptive statistics for numerical variables.</a:t>
            </a:r>
          </a:p>
          <a:p>
            <a:pPr>
              <a:spcAft>
                <a:spcPts val="700"/>
              </a:spcAft>
              <a:defRPr sz="1800">
                <a:solidFill>
                  <a:srgbClr val="232323"/>
                </a:solidFill>
                <a:latin typeface="Aptos"/>
              </a:defRPr>
            </a:pPr>
            <a:r>
              <a:t>• Automatically generate distribution plots, box plots, correlation heatmaps, and pairplots.</a:t>
            </a:r>
          </a:p>
          <a:p>
            <a:pPr>
              <a:spcAft>
                <a:spcPts val="700"/>
              </a:spcAft>
              <a:defRPr sz="1800">
                <a:solidFill>
                  <a:srgbClr val="232323"/>
                </a:solidFill>
                <a:latin typeface="Aptos"/>
              </a:defRPr>
            </a:pPr>
            <a:r>
              <a:t>• Provide interactive column selection and visualization controls through Streamlit.</a:t>
            </a:r>
          </a:p>
          <a:p>
            <a:pPr>
              <a:spcAft>
                <a:spcPts val="700"/>
              </a:spcAft>
              <a:defRPr sz="1800">
                <a:solidFill>
                  <a:srgbClr val="232323"/>
                </a:solidFill>
                <a:latin typeface="Aptos"/>
              </a:defRPr>
            </a:pPr>
            <a:r>
              <a:t>• Reduce repetitive EDA coding and provide a reusable preliminary analysis workflow.</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r>
              <a:t>4</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594831106"/>
              </p:ext>
            </p:extLst>
          </p:nvPr>
        </p:nvGraphicFramePr>
        <p:xfrm>
          <a:off x="274647" y="734568"/>
          <a:ext cx="11642705" cy="5623218"/>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663334">
                <a:tc>
                  <a:txBody>
                    <a:bodyPr/>
                    <a:lstStyle/>
                    <a:p>
                      <a:pPr>
                        <a:defRPr sz="800" b="1">
                          <a:solidFill>
                            <a:srgbClr val="FFFFFF"/>
                          </a:solidFill>
                          <a:latin typeface="Aptos"/>
                        </a:defRPr>
                      </a:pPr>
                      <a:r>
                        <a:rPr sz="1200" dirty="0"/>
                        <a:t>Authors / Year</a:t>
                      </a:r>
                    </a:p>
                  </a:txBody>
                  <a:tcPr marL="36576" marR="36576" marT="18288" marB="18288">
                    <a:solidFill>
                      <a:srgbClr val="A00014"/>
                    </a:solidFill>
                  </a:tcPr>
                </a:tc>
                <a:tc>
                  <a:txBody>
                    <a:bodyPr/>
                    <a:lstStyle/>
                    <a:p>
                      <a:pPr>
                        <a:defRPr sz="800" b="1">
                          <a:solidFill>
                            <a:srgbClr val="FFFFFF"/>
                          </a:solidFill>
                          <a:latin typeface="Aptos"/>
                        </a:defRPr>
                      </a:pPr>
                      <a:r>
                        <a:rPr sz="1200" dirty="0"/>
                        <a:t>Research paper</a:t>
                      </a:r>
                    </a:p>
                  </a:txBody>
                  <a:tcPr marL="36576" marR="36576" marT="18288" marB="18288">
                    <a:solidFill>
                      <a:srgbClr val="A00014"/>
                    </a:solidFill>
                  </a:tcPr>
                </a:tc>
                <a:tc>
                  <a:txBody>
                    <a:bodyPr/>
                    <a:lstStyle/>
                    <a:p>
                      <a:pPr>
                        <a:defRPr sz="800" b="1">
                          <a:solidFill>
                            <a:srgbClr val="FFFFFF"/>
                          </a:solidFill>
                          <a:latin typeface="Aptos"/>
                        </a:defRPr>
                      </a:pPr>
                      <a:r>
                        <a:rPr sz="1200" dirty="0"/>
                        <a:t>Methodology / focus</a:t>
                      </a:r>
                    </a:p>
                  </a:txBody>
                  <a:tcPr marL="36576" marR="36576" marT="18288" marB="18288">
                    <a:solidFill>
                      <a:srgbClr val="A00014"/>
                    </a:solidFill>
                  </a:tcPr>
                </a:tc>
                <a:tc>
                  <a:txBody>
                    <a:bodyPr/>
                    <a:lstStyle/>
                    <a:p>
                      <a:pPr>
                        <a:defRPr sz="800" b="1">
                          <a:solidFill>
                            <a:srgbClr val="FFFFFF"/>
                          </a:solidFill>
                          <a:latin typeface="Aptos"/>
                        </a:defRPr>
                      </a:pPr>
                      <a:r>
                        <a:rPr sz="1200" dirty="0"/>
                        <a:t>Key inference</a:t>
                      </a:r>
                    </a:p>
                  </a:txBody>
                  <a:tcPr marL="36576" marR="36576" marT="18288" marB="18288">
                    <a:solidFill>
                      <a:srgbClr val="A00014"/>
                    </a:solidFill>
                  </a:tcPr>
                </a:tc>
                <a:tc>
                  <a:txBody>
                    <a:bodyPr/>
                    <a:lstStyle/>
                    <a:p>
                      <a:pPr>
                        <a:defRPr sz="800" b="1">
                          <a:solidFill>
                            <a:srgbClr val="FFFFFF"/>
                          </a:solidFill>
                          <a:latin typeface="Aptos"/>
                        </a:defRPr>
                      </a:pPr>
                      <a:r>
                        <a:rPr sz="1200" dirty="0"/>
                        <a:t>Relevance / limitation</a:t>
                      </a:r>
                    </a:p>
                  </a:txBody>
                  <a:tcPr marL="36576" marR="36576" marT="18288" marB="18288">
                    <a:solidFill>
                      <a:srgbClr val="A00014"/>
                    </a:solidFill>
                  </a:tcPr>
                </a:tc>
                <a:extLst>
                  <a:ext uri="{0D108BD9-81ED-4DB2-BD59-A6C34878D82A}">
                    <a16:rowId xmlns:a16="http://schemas.microsoft.com/office/drawing/2014/main" val="10000"/>
                  </a:ext>
                </a:extLst>
              </a:tr>
              <a:tr h="663334">
                <a:tc>
                  <a:txBody>
                    <a:bodyPr/>
                    <a:lstStyle/>
                    <a:p>
                      <a:pPr>
                        <a:defRPr sz="720" b="0">
                          <a:solidFill>
                            <a:srgbClr val="23272D"/>
                          </a:solidFill>
                          <a:latin typeface="Aptos"/>
                        </a:defRPr>
                      </a:pPr>
                      <a:r>
                        <a:rPr sz="1100" dirty="0" err="1"/>
                        <a:t>Manatkar</a:t>
                      </a:r>
                      <a:r>
                        <a:rPr sz="1100" dirty="0"/>
                        <a:t> et al. (2025)</a:t>
                      </a:r>
                    </a:p>
                  </a:txBody>
                  <a:tcPr marL="36576" marR="36576" marT="18288" marB="18288">
                    <a:solidFill>
                      <a:srgbClr val="F8F5F6"/>
                    </a:solidFill>
                  </a:tcPr>
                </a:tc>
                <a:tc>
                  <a:txBody>
                    <a:bodyPr/>
                    <a:lstStyle/>
                    <a:p>
                      <a:pPr>
                        <a:defRPr sz="720" b="0">
                          <a:solidFill>
                            <a:srgbClr val="23272D"/>
                          </a:solidFill>
                          <a:latin typeface="Aptos"/>
                        </a:defRPr>
                      </a:pPr>
                      <a:r>
                        <a:rPr sz="1100" dirty="0"/>
                        <a:t>Question-guided Insights Generation for Automated Exploratory Data Analysis (QUIS)</a:t>
                      </a:r>
                    </a:p>
                  </a:txBody>
                  <a:tcPr marL="36576" marR="36576" marT="18288" marB="18288">
                    <a:solidFill>
                      <a:srgbClr val="F8F5F6"/>
                    </a:solidFill>
                  </a:tcPr>
                </a:tc>
                <a:tc>
                  <a:txBody>
                    <a:bodyPr/>
                    <a:lstStyle/>
                    <a:p>
                      <a:pPr>
                        <a:defRPr sz="720" b="0">
                          <a:solidFill>
                            <a:srgbClr val="23272D"/>
                          </a:solidFill>
                          <a:latin typeface="Aptos"/>
                        </a:defRPr>
                      </a:pPr>
                      <a:r>
                        <a:rPr sz="1100" dirty="0"/>
                        <a:t>Generates data-related questions and explores dataset subspaces automatically.</a:t>
                      </a:r>
                    </a:p>
                  </a:txBody>
                  <a:tcPr marL="36576" marR="36576" marT="18288" marB="18288">
                    <a:solidFill>
                      <a:srgbClr val="F8F5F6"/>
                    </a:solidFill>
                  </a:tcPr>
                </a:tc>
                <a:tc>
                  <a:txBody>
                    <a:bodyPr/>
                    <a:lstStyle/>
                    <a:p>
                      <a:pPr>
                        <a:defRPr sz="720" b="0">
                          <a:solidFill>
                            <a:srgbClr val="23272D"/>
                          </a:solidFill>
                          <a:latin typeface="Aptos"/>
                        </a:defRPr>
                      </a:pPr>
                      <a:r>
                        <a:rPr sz="1100" dirty="0"/>
                        <a:t>Question-led exploration can surface insights without prior training.</a:t>
                      </a:r>
                    </a:p>
                  </a:txBody>
                  <a:tcPr marL="36576" marR="36576" marT="18288" marB="18288">
                    <a:solidFill>
                      <a:srgbClr val="F8F5F6"/>
                    </a:solidFill>
                  </a:tcPr>
                </a:tc>
                <a:tc>
                  <a:txBody>
                    <a:bodyPr/>
                    <a:lstStyle/>
                    <a:p>
                      <a:pPr>
                        <a:defRPr sz="720" b="0">
                          <a:solidFill>
                            <a:srgbClr val="23272D"/>
                          </a:solidFill>
                          <a:latin typeface="Aptos"/>
                        </a:defRPr>
                      </a:pPr>
                      <a:r>
                        <a:rPr sz="1100" dirty="0"/>
                        <a:t>Relevant to automatic EDA; our dashboard uses transparent, rule-based profiling. DOI: 10.1609/aaai.v39i28.35360</a:t>
                      </a:r>
                    </a:p>
                  </a:txBody>
                  <a:tcPr marL="36576" marR="36576" marT="18288" marB="18288">
                    <a:solidFill>
                      <a:srgbClr val="F8F5F6"/>
                    </a:solidFill>
                  </a:tcPr>
                </a:tc>
                <a:extLst>
                  <a:ext uri="{0D108BD9-81ED-4DB2-BD59-A6C34878D82A}">
                    <a16:rowId xmlns:a16="http://schemas.microsoft.com/office/drawing/2014/main" val="3714155954"/>
                  </a:ext>
                </a:extLst>
              </a:tr>
              <a:tr h="663334">
                <a:tc>
                  <a:txBody>
                    <a:bodyPr/>
                    <a:lstStyle/>
                    <a:p>
                      <a:pPr>
                        <a:defRPr sz="720" b="0">
                          <a:solidFill>
                            <a:srgbClr val="23272D"/>
                          </a:solidFill>
                          <a:latin typeface="Aptos"/>
                        </a:defRPr>
                      </a:pPr>
                      <a:r>
                        <a:rPr sz="1100" dirty="0"/>
                        <a:t>Wootton et al. (2025)</a:t>
                      </a:r>
                    </a:p>
                  </a:txBody>
                  <a:tcPr marL="36576" marR="36576" marT="18288" marB="18288">
                    <a:solidFill>
                      <a:srgbClr val="FFFFFF"/>
                    </a:solidFill>
                  </a:tcPr>
                </a:tc>
                <a:tc>
                  <a:txBody>
                    <a:bodyPr/>
                    <a:lstStyle/>
                    <a:p>
                      <a:pPr>
                        <a:defRPr sz="720" b="0">
                          <a:solidFill>
                            <a:srgbClr val="23272D"/>
                          </a:solidFill>
                          <a:latin typeface="Aptos"/>
                        </a:defRPr>
                      </a:pPr>
                      <a:r>
                        <a:rPr sz="1100" dirty="0"/>
                        <a:t>Charting EDA: Characterizing Interactive Visualization Use in Computational Notebooks</a:t>
                      </a:r>
                    </a:p>
                  </a:txBody>
                  <a:tcPr marL="36576" marR="36576" marT="18288" marB="18288">
                    <a:solidFill>
                      <a:srgbClr val="FFFFFF"/>
                    </a:solidFill>
                  </a:tcPr>
                </a:tc>
                <a:tc>
                  <a:txBody>
                    <a:bodyPr/>
                    <a:lstStyle/>
                    <a:p>
                      <a:pPr>
                        <a:defRPr sz="720" b="0">
                          <a:solidFill>
                            <a:srgbClr val="23272D"/>
                          </a:solidFill>
                          <a:latin typeface="Aptos"/>
                        </a:defRPr>
                      </a:pPr>
                      <a:r>
                        <a:rPr sz="1100" dirty="0"/>
                        <a:t>Mixed-methods study of 13 data scientists using interactive and static visualizations.</a:t>
                      </a:r>
                    </a:p>
                  </a:txBody>
                  <a:tcPr marL="36576" marR="36576" marT="18288" marB="18288">
                    <a:solidFill>
                      <a:srgbClr val="FFFFFF"/>
                    </a:solidFill>
                  </a:tcPr>
                </a:tc>
                <a:tc>
                  <a:txBody>
                    <a:bodyPr/>
                    <a:lstStyle/>
                    <a:p>
                      <a:pPr>
                        <a:defRPr sz="720" b="0">
                          <a:solidFill>
                            <a:srgbClr val="23272D"/>
                          </a:solidFill>
                          <a:latin typeface="Aptos"/>
                        </a:defRPr>
                      </a:pPr>
                      <a:r>
                        <a:rPr sz="1100" dirty="0"/>
                        <a:t>Interactive views can lead to earlier, more complex observations about relationships.</a:t>
                      </a:r>
                    </a:p>
                  </a:txBody>
                  <a:tcPr marL="36576" marR="36576" marT="18288" marB="18288">
                    <a:solidFill>
                      <a:srgbClr val="FFFFFF"/>
                    </a:solidFill>
                  </a:tcPr>
                </a:tc>
                <a:tc>
                  <a:txBody>
                    <a:bodyPr/>
                    <a:lstStyle/>
                    <a:p>
                      <a:pPr>
                        <a:defRPr sz="720" b="0">
                          <a:solidFill>
                            <a:srgbClr val="23272D"/>
                          </a:solidFill>
                          <a:latin typeface="Aptos"/>
                        </a:defRPr>
                      </a:pPr>
                      <a:r>
                        <a:rPr sz="1100" dirty="0"/>
                        <a:t>Supports interactive exploration. DOI: 10.1109/TVCG.2024.3456217</a:t>
                      </a:r>
                    </a:p>
                  </a:txBody>
                  <a:tcPr marL="36576" marR="36576" marT="18288" marB="18288">
                    <a:solidFill>
                      <a:srgbClr val="FFFFFF"/>
                    </a:solidFill>
                  </a:tcPr>
                </a:tc>
                <a:extLst>
                  <a:ext uri="{0D108BD9-81ED-4DB2-BD59-A6C34878D82A}">
                    <a16:rowId xmlns:a16="http://schemas.microsoft.com/office/drawing/2014/main" val="2655426370"/>
                  </a:ext>
                </a:extLst>
              </a:tr>
              <a:tr h="615900">
                <a:tc>
                  <a:txBody>
                    <a:bodyPr/>
                    <a:lstStyle/>
                    <a:p>
                      <a:pPr>
                        <a:defRPr sz="720" b="0">
                          <a:solidFill>
                            <a:srgbClr val="23272D"/>
                          </a:solidFill>
                          <a:latin typeface="Aptos"/>
                        </a:defRPr>
                      </a:pPr>
                      <a:r>
                        <a:rPr sz="1100" dirty="0"/>
                        <a:t>Choi &amp; Jo (2025)</a:t>
                      </a:r>
                    </a:p>
                  </a:txBody>
                  <a:tcPr marL="36576" marR="36576" marT="18288" marB="18288">
                    <a:solidFill>
                      <a:srgbClr val="F8F5F6"/>
                    </a:solidFill>
                  </a:tcPr>
                </a:tc>
                <a:tc>
                  <a:txBody>
                    <a:bodyPr/>
                    <a:lstStyle/>
                    <a:p>
                      <a:pPr>
                        <a:defRPr sz="720" b="0">
                          <a:solidFill>
                            <a:srgbClr val="23272D"/>
                          </a:solidFill>
                          <a:latin typeface="Aptos"/>
                        </a:defRPr>
                      </a:pPr>
                      <a:r>
                        <a:rPr sz="1100" dirty="0" err="1"/>
                        <a:t>Waltzboard</a:t>
                      </a:r>
                      <a:r>
                        <a:rPr sz="1100" dirty="0"/>
                        <a:t>: Multi-Criteria Automated Dashboard Design for Exploratory Analysis</a:t>
                      </a:r>
                    </a:p>
                  </a:txBody>
                  <a:tcPr marL="36576" marR="36576" marT="18288" marB="18288">
                    <a:solidFill>
                      <a:srgbClr val="F8F5F6"/>
                    </a:solidFill>
                  </a:tcPr>
                </a:tc>
                <a:tc>
                  <a:txBody>
                    <a:bodyPr/>
                    <a:lstStyle/>
                    <a:p>
                      <a:pPr>
                        <a:defRPr sz="720" b="0">
                          <a:solidFill>
                            <a:srgbClr val="23272D"/>
                          </a:solidFill>
                          <a:latin typeface="Aptos"/>
                        </a:defRPr>
                      </a:pPr>
                      <a:r>
                        <a:rPr sz="1100" dirty="0"/>
                        <a:t>Search algorithm scores specificity, interestingness, diversity, coverage and parsimony.</a:t>
                      </a:r>
                    </a:p>
                  </a:txBody>
                  <a:tcPr marL="36576" marR="36576" marT="18288" marB="18288">
                    <a:solidFill>
                      <a:srgbClr val="F8F5F6"/>
                    </a:solidFill>
                  </a:tcPr>
                </a:tc>
                <a:tc>
                  <a:txBody>
                    <a:bodyPr/>
                    <a:lstStyle/>
                    <a:p>
                      <a:pPr>
                        <a:defRPr sz="720" b="0">
                          <a:solidFill>
                            <a:srgbClr val="23272D"/>
                          </a:solidFill>
                          <a:latin typeface="Aptos"/>
                        </a:defRPr>
                      </a:pPr>
                      <a:r>
                        <a:rPr sz="1100" dirty="0"/>
                        <a:t>Dashboard generation can balance multiple criteria and user intent.</a:t>
                      </a:r>
                    </a:p>
                  </a:txBody>
                  <a:tcPr marL="36576" marR="36576" marT="18288" marB="18288">
                    <a:solidFill>
                      <a:srgbClr val="F8F5F6"/>
                    </a:solidFill>
                  </a:tcPr>
                </a:tc>
                <a:tc>
                  <a:txBody>
                    <a:bodyPr/>
                    <a:lstStyle/>
                    <a:p>
                      <a:pPr>
                        <a:defRPr sz="720" b="0">
                          <a:solidFill>
                            <a:srgbClr val="23272D"/>
                          </a:solidFill>
                          <a:latin typeface="Aptos"/>
                        </a:defRPr>
                      </a:pPr>
                      <a:r>
                        <a:rPr sz="1100" dirty="0"/>
                        <a:t>Informs future auto-dashboard recommendations; current scope uses fixed EDA views. DOI: 10.1109/PacificVis64226.2025.00032</a:t>
                      </a:r>
                    </a:p>
                  </a:txBody>
                  <a:tcPr marL="36576" marR="36576" marT="18288" marB="18288">
                    <a:solidFill>
                      <a:srgbClr val="F8F5F6"/>
                    </a:solidFill>
                  </a:tcPr>
                </a:tc>
                <a:extLst>
                  <a:ext uri="{0D108BD9-81ED-4DB2-BD59-A6C34878D82A}">
                    <a16:rowId xmlns:a16="http://schemas.microsoft.com/office/drawing/2014/main" val="2841575018"/>
                  </a:ext>
                </a:extLst>
              </a:tr>
              <a:tr h="585216">
                <a:tc>
                  <a:txBody>
                    <a:bodyPr/>
                    <a:lstStyle/>
                    <a:p>
                      <a:pPr>
                        <a:defRPr sz="720" b="0">
                          <a:solidFill>
                            <a:srgbClr val="23272D"/>
                          </a:solidFill>
                          <a:latin typeface="Aptos"/>
                        </a:defRPr>
                      </a:pPr>
                      <a:r>
                        <a:rPr dirty="0"/>
                        <a:t>Bao et al. (2025)</a:t>
                      </a:r>
                    </a:p>
                  </a:txBody>
                  <a:tcPr marL="36576" marR="36576" marT="18288" marB="18288">
                    <a:solidFill>
                      <a:srgbClr val="FFFFFF"/>
                    </a:solidFill>
                  </a:tcPr>
                </a:tc>
                <a:tc>
                  <a:txBody>
                    <a:bodyPr/>
                    <a:lstStyle/>
                    <a:p>
                      <a:pPr>
                        <a:defRPr sz="720" b="0">
                          <a:solidFill>
                            <a:srgbClr val="23272D"/>
                          </a:solidFill>
                          <a:latin typeface="Aptos"/>
                        </a:defRPr>
                      </a:pPr>
                      <a:r>
                        <a:rPr dirty="0"/>
                        <a:t>Towards Automated Cross-Domain Exploratory Data Analysis through Large Language Models</a:t>
                      </a:r>
                    </a:p>
                  </a:txBody>
                  <a:tcPr marL="36576" marR="36576" marT="18288" marB="18288">
                    <a:solidFill>
                      <a:srgbClr val="FFFFFF"/>
                    </a:solidFill>
                  </a:tcPr>
                </a:tc>
                <a:tc>
                  <a:txBody>
                    <a:bodyPr/>
                    <a:lstStyle/>
                    <a:p>
                      <a:pPr>
                        <a:defRPr sz="720" b="0">
                          <a:solidFill>
                            <a:srgbClr val="23272D"/>
                          </a:solidFill>
                          <a:latin typeface="Aptos"/>
                        </a:defRPr>
                      </a:pPr>
                      <a:r>
                        <a:rPr dirty="0"/>
                        <a:t>LLM-based automation supports cross-domain EDA and SQL/visualization choices.</a:t>
                      </a:r>
                    </a:p>
                  </a:txBody>
                  <a:tcPr marL="36576" marR="36576" marT="18288" marB="18288">
                    <a:solidFill>
                      <a:srgbClr val="FFFFFF"/>
                    </a:solidFill>
                  </a:tcPr>
                </a:tc>
                <a:tc>
                  <a:txBody>
                    <a:bodyPr/>
                    <a:lstStyle/>
                    <a:p>
                      <a:pPr>
                        <a:defRPr sz="720" b="0">
                          <a:solidFill>
                            <a:srgbClr val="23272D"/>
                          </a:solidFill>
                          <a:latin typeface="Aptos"/>
                        </a:defRPr>
                      </a:pPr>
                      <a:r>
                        <a:rPr dirty="0"/>
                        <a:t>LLMs may reduce manual query and chart-selection effort.</a:t>
                      </a:r>
                    </a:p>
                  </a:txBody>
                  <a:tcPr marL="36576" marR="36576" marT="18288" marB="18288">
                    <a:solidFill>
                      <a:srgbClr val="FFFFFF"/>
                    </a:solidFill>
                  </a:tcPr>
                </a:tc>
                <a:tc>
                  <a:txBody>
                    <a:bodyPr/>
                    <a:lstStyle/>
                    <a:p>
                      <a:pPr>
                        <a:defRPr sz="720" b="0">
                          <a:solidFill>
                            <a:srgbClr val="23272D"/>
                          </a:solidFill>
                          <a:latin typeface="Aptos"/>
                        </a:defRPr>
                      </a:pPr>
                      <a:r>
                        <a:rPr dirty="0"/>
                        <a:t>Relevant future extension, not required for current rule-based scope. DOI: 10.14778/3750601.3750629</a:t>
                      </a:r>
                    </a:p>
                  </a:txBody>
                  <a:tcPr marL="36576" marR="36576" marT="18288" marB="18288">
                    <a:solidFill>
                      <a:srgbClr val="FFFFFF"/>
                    </a:solidFill>
                  </a:tcPr>
                </a:tc>
                <a:extLst>
                  <a:ext uri="{0D108BD9-81ED-4DB2-BD59-A6C34878D82A}">
                    <a16:rowId xmlns:a16="http://schemas.microsoft.com/office/drawing/2014/main" val="152238737"/>
                  </a:ext>
                </a:extLst>
              </a:tr>
              <a:tr h="585216">
                <a:tc>
                  <a:txBody>
                    <a:bodyPr/>
                    <a:lstStyle/>
                    <a:p>
                      <a:pPr>
                        <a:defRPr sz="720" b="0">
                          <a:solidFill>
                            <a:srgbClr val="23272D"/>
                          </a:solidFill>
                          <a:latin typeface="Aptos"/>
                        </a:defRPr>
                      </a:pPr>
                      <a:r>
                        <a:rPr dirty="0"/>
                        <a:t>Publisher-listed authors (2025)</a:t>
                      </a:r>
                    </a:p>
                  </a:txBody>
                  <a:tcPr marL="36576" marR="36576" marT="18288" marB="18288">
                    <a:solidFill>
                      <a:srgbClr val="F8F5F6"/>
                    </a:solidFill>
                  </a:tcPr>
                </a:tc>
                <a:tc>
                  <a:txBody>
                    <a:bodyPr/>
                    <a:lstStyle/>
                    <a:p>
                      <a:pPr>
                        <a:defRPr sz="720" b="0">
                          <a:solidFill>
                            <a:srgbClr val="23272D"/>
                          </a:solidFill>
                          <a:latin typeface="Aptos"/>
                        </a:defRPr>
                      </a:pPr>
                      <a:r>
                        <a:rPr dirty="0"/>
                        <a:t>A Smart Tool to Unlock Hidden Insights in Industrial Data by Leveraging EDA, LLM, Conformal Prediction, and AutoML</a:t>
                      </a:r>
                    </a:p>
                  </a:txBody>
                  <a:tcPr marL="36576" marR="36576" marT="18288" marB="18288">
                    <a:solidFill>
                      <a:srgbClr val="F8F5F6"/>
                    </a:solidFill>
                  </a:tcPr>
                </a:tc>
                <a:tc>
                  <a:txBody>
                    <a:bodyPr/>
                    <a:lstStyle/>
                    <a:p>
                      <a:pPr>
                        <a:defRPr sz="720" b="0">
                          <a:solidFill>
                            <a:srgbClr val="23272D"/>
                          </a:solidFill>
                          <a:latin typeface="Aptos"/>
                        </a:defRPr>
                      </a:pPr>
                      <a:r>
                        <a:rPr dirty="0"/>
                        <a:t>Combines EDA pathways with LLM, conformal prediction and AutoML.</a:t>
                      </a:r>
                    </a:p>
                  </a:txBody>
                  <a:tcPr marL="36576" marR="36576" marT="18288" marB="18288">
                    <a:solidFill>
                      <a:srgbClr val="F8F5F6"/>
                    </a:solidFill>
                  </a:tcPr>
                </a:tc>
                <a:tc>
                  <a:txBody>
                    <a:bodyPr/>
                    <a:lstStyle/>
                    <a:p>
                      <a:pPr>
                        <a:defRPr sz="720" b="0">
                          <a:solidFill>
                            <a:srgbClr val="23272D"/>
                          </a:solidFill>
                          <a:latin typeface="Aptos"/>
                        </a:defRPr>
                      </a:pPr>
                      <a:r>
                        <a:rPr dirty="0"/>
                        <a:t>Predefined analysis pathways can make analytics more accessible to non-experts.</a:t>
                      </a:r>
                    </a:p>
                  </a:txBody>
                  <a:tcPr marL="36576" marR="36576" marT="18288" marB="18288">
                    <a:solidFill>
                      <a:srgbClr val="F8F5F6"/>
                    </a:solidFill>
                  </a:tcPr>
                </a:tc>
                <a:tc>
                  <a:txBody>
                    <a:bodyPr/>
                    <a:lstStyle/>
                    <a:p>
                      <a:pPr>
                        <a:defRPr sz="720" b="0">
                          <a:solidFill>
                            <a:srgbClr val="23272D"/>
                          </a:solidFill>
                          <a:latin typeface="Aptos"/>
                        </a:defRPr>
                      </a:pPr>
                      <a:r>
                        <a:rPr dirty="0"/>
                        <a:t>Related to guided analytics; broader than current descriptive EDA. DOI: 10.1016/j.procs.2025.01.321</a:t>
                      </a:r>
                    </a:p>
                  </a:txBody>
                  <a:tcPr marL="36576" marR="36576" marT="18288" marB="18288">
                    <a:solidFill>
                      <a:srgbClr val="F8F5F6"/>
                    </a:solidFill>
                  </a:tcPr>
                </a:tc>
                <a:extLst>
                  <a:ext uri="{0D108BD9-81ED-4DB2-BD59-A6C34878D82A}">
                    <a16:rowId xmlns:a16="http://schemas.microsoft.com/office/drawing/2014/main" val="2827850571"/>
                  </a:ext>
                </a:extLst>
              </a:tr>
              <a:tr h="585216">
                <a:tc>
                  <a:txBody>
                    <a:bodyPr/>
                    <a:lstStyle/>
                    <a:p>
                      <a:pPr>
                        <a:defRPr sz="720" b="0">
                          <a:solidFill>
                            <a:srgbClr val="23272D"/>
                          </a:solidFill>
                          <a:latin typeface="Aptos"/>
                        </a:defRPr>
                      </a:pPr>
                      <a:r>
                        <a:t>Behringer et al. (2024)</a:t>
                      </a:r>
                    </a:p>
                  </a:txBody>
                  <a:tcPr marL="36576" marR="36576" marT="18288" marB="18288">
                    <a:solidFill>
                      <a:srgbClr val="FFFFFF"/>
                    </a:solidFill>
                  </a:tcPr>
                </a:tc>
                <a:tc>
                  <a:txBody>
                    <a:bodyPr/>
                    <a:lstStyle/>
                    <a:p>
                      <a:pPr>
                        <a:defRPr sz="720" b="0">
                          <a:solidFill>
                            <a:srgbClr val="23272D"/>
                          </a:solidFill>
                          <a:latin typeface="Aptos"/>
                        </a:defRPr>
                      </a:pPr>
                      <a:r>
                        <a:rPr dirty="0"/>
                        <a:t>Enhancing Data Trustworthiness in Explorative Analysis: An Interactive Approach for Data Quality Monitoring</a:t>
                      </a:r>
                    </a:p>
                  </a:txBody>
                  <a:tcPr marL="36576" marR="36576" marT="18288" marB="18288">
                    <a:solidFill>
                      <a:srgbClr val="FFFFFF"/>
                    </a:solidFill>
                  </a:tcPr>
                </a:tc>
                <a:tc>
                  <a:txBody>
                    <a:bodyPr/>
                    <a:lstStyle/>
                    <a:p>
                      <a:pPr>
                        <a:defRPr sz="720" b="0">
                          <a:solidFill>
                            <a:srgbClr val="23272D"/>
                          </a:solidFill>
                          <a:latin typeface="Aptos"/>
                        </a:defRPr>
                      </a:pPr>
                      <a:r>
                        <a:rPr dirty="0"/>
                        <a:t>Interactive data-quality monitoring during exploratory analysis.</a:t>
                      </a:r>
                    </a:p>
                  </a:txBody>
                  <a:tcPr marL="36576" marR="36576" marT="18288" marB="18288">
                    <a:solidFill>
                      <a:srgbClr val="FFFFFF"/>
                    </a:solidFill>
                  </a:tcPr>
                </a:tc>
                <a:tc>
                  <a:txBody>
                    <a:bodyPr/>
                    <a:lstStyle/>
                    <a:p>
                      <a:pPr>
                        <a:defRPr sz="720" b="0">
                          <a:solidFill>
                            <a:srgbClr val="23272D"/>
                          </a:solidFill>
                          <a:latin typeface="Aptos"/>
                        </a:defRPr>
                      </a:pPr>
                      <a:r>
                        <a:rPr dirty="0"/>
                        <a:t>Data quality should be visible alongside analytical views.</a:t>
                      </a:r>
                    </a:p>
                  </a:txBody>
                  <a:tcPr marL="36576" marR="36576" marT="18288" marB="18288">
                    <a:solidFill>
                      <a:srgbClr val="FFFFFF"/>
                    </a:solidFill>
                  </a:tcPr>
                </a:tc>
                <a:tc>
                  <a:txBody>
                    <a:bodyPr/>
                    <a:lstStyle/>
                    <a:p>
                      <a:pPr>
                        <a:defRPr sz="720" b="0">
                          <a:solidFill>
                            <a:srgbClr val="23272D"/>
                          </a:solidFill>
                          <a:latin typeface="Aptos"/>
                        </a:defRPr>
                      </a:pPr>
                      <a:r>
                        <a:rPr dirty="0"/>
                        <a:t>Motivates missing-value and duplicate summaries. DOI: 10.1007/s42979-024-02781-w</a:t>
                      </a:r>
                    </a:p>
                  </a:txBody>
                  <a:tcPr marL="36576" marR="36576" marT="18288" marB="18288">
                    <a:solidFill>
                      <a:srgbClr val="FFFFFF"/>
                    </a:solidFill>
                  </a:tcPr>
                </a:tc>
                <a:extLst>
                  <a:ext uri="{0D108BD9-81ED-4DB2-BD59-A6C34878D82A}">
                    <a16:rowId xmlns:a16="http://schemas.microsoft.com/office/drawing/2014/main" val="2482241304"/>
                  </a:ext>
                </a:extLst>
              </a:tr>
              <a:tr h="585216">
                <a:tc>
                  <a:txBody>
                    <a:bodyPr/>
                    <a:lstStyle/>
                    <a:p>
                      <a:pPr>
                        <a:defRPr sz="720" b="0">
                          <a:solidFill>
                            <a:srgbClr val="23272D"/>
                          </a:solidFill>
                          <a:latin typeface="Aptos"/>
                        </a:defRPr>
                      </a:pPr>
                      <a:r>
                        <a:t>Hjelle et al. (2024)</a:t>
                      </a:r>
                    </a:p>
                  </a:txBody>
                  <a:tcPr marL="36576" marR="36576" marT="18288" marB="18288">
                    <a:solidFill>
                      <a:srgbClr val="F8F5F6"/>
                    </a:solidFill>
                  </a:tcPr>
                </a:tc>
                <a:tc>
                  <a:txBody>
                    <a:bodyPr/>
                    <a:lstStyle/>
                    <a:p>
                      <a:pPr>
                        <a:defRPr sz="720" b="0">
                          <a:solidFill>
                            <a:srgbClr val="23272D"/>
                          </a:solidFill>
                          <a:latin typeface="Aptos"/>
                        </a:defRPr>
                      </a:pPr>
                      <a:r>
                        <a:t>Organizational Decision Making and Analytics: An Experimental Study on Dashboard Visualizations</a:t>
                      </a:r>
                    </a:p>
                  </a:txBody>
                  <a:tcPr marL="36576" marR="36576" marT="18288" marB="18288">
                    <a:solidFill>
                      <a:srgbClr val="F8F5F6"/>
                    </a:solidFill>
                  </a:tcPr>
                </a:tc>
                <a:tc>
                  <a:txBody>
                    <a:bodyPr/>
                    <a:lstStyle/>
                    <a:p>
                      <a:pPr>
                        <a:defRPr sz="720" b="0">
                          <a:solidFill>
                            <a:srgbClr val="23272D"/>
                          </a:solidFill>
                          <a:latin typeface="Aptos"/>
                        </a:defRPr>
                      </a:pPr>
                      <a:r>
                        <a:rPr dirty="0"/>
                        <a:t>Experimental study of dashboard information formats and decision quality.</a:t>
                      </a:r>
                    </a:p>
                  </a:txBody>
                  <a:tcPr marL="36576" marR="36576" marT="18288" marB="18288">
                    <a:solidFill>
                      <a:srgbClr val="F8F5F6"/>
                    </a:solidFill>
                  </a:tcPr>
                </a:tc>
                <a:tc>
                  <a:txBody>
                    <a:bodyPr/>
                    <a:lstStyle/>
                    <a:p>
                      <a:pPr>
                        <a:defRPr sz="720" b="0">
                          <a:solidFill>
                            <a:srgbClr val="23272D"/>
                          </a:solidFill>
                          <a:latin typeface="Aptos"/>
                        </a:defRPr>
                      </a:pPr>
                      <a:r>
                        <a:rPr dirty="0"/>
                        <a:t>Dashboard presentation affects how users interpret information.</a:t>
                      </a:r>
                    </a:p>
                  </a:txBody>
                  <a:tcPr marL="36576" marR="36576" marT="18288" marB="18288">
                    <a:solidFill>
                      <a:srgbClr val="F8F5F6"/>
                    </a:solidFill>
                  </a:tcPr>
                </a:tc>
                <a:tc>
                  <a:txBody>
                    <a:bodyPr/>
                    <a:lstStyle/>
                    <a:p>
                      <a:pPr>
                        <a:defRPr sz="720" b="0">
                          <a:solidFill>
                            <a:srgbClr val="23272D"/>
                          </a:solidFill>
                          <a:latin typeface="Aptos"/>
                        </a:defRPr>
                      </a:pPr>
                      <a:r>
                        <a:rPr dirty="0"/>
                        <a:t>Motivates clear labels and readable summaries. DOI: 10.1016/j.im.2024.104011</a:t>
                      </a:r>
                    </a:p>
                  </a:txBody>
                  <a:tcPr marL="36576" marR="36576" marT="18288" marB="18288">
                    <a:solidFill>
                      <a:srgbClr val="F8F5F6"/>
                    </a:solidFill>
                  </a:tcPr>
                </a:tc>
                <a:extLst>
                  <a:ext uri="{0D108BD9-81ED-4DB2-BD59-A6C34878D82A}">
                    <a16:rowId xmlns:a16="http://schemas.microsoft.com/office/drawing/2014/main" val="2308511142"/>
                  </a:ext>
                </a:extLst>
              </a:tr>
              <a:tr h="585216">
                <a:tc>
                  <a:txBody>
                    <a:bodyPr/>
                    <a:lstStyle/>
                    <a:p>
                      <a:pPr>
                        <a:defRPr sz="720" b="0">
                          <a:solidFill>
                            <a:srgbClr val="23272D"/>
                          </a:solidFill>
                          <a:latin typeface="Aptos"/>
                        </a:defRPr>
                      </a:pPr>
                      <a:r>
                        <a:t>Survey authors (2024)</a:t>
                      </a:r>
                    </a:p>
                  </a:txBody>
                  <a:tcPr marL="36576" marR="36576" marT="18288" marB="18288">
                    <a:solidFill>
                      <a:srgbClr val="FFFFFF"/>
                    </a:solidFill>
                  </a:tcPr>
                </a:tc>
                <a:tc>
                  <a:txBody>
                    <a:bodyPr/>
                    <a:lstStyle/>
                    <a:p>
                      <a:pPr>
                        <a:defRPr sz="720" b="0">
                          <a:solidFill>
                            <a:srgbClr val="23272D"/>
                          </a:solidFill>
                          <a:latin typeface="Aptos"/>
                        </a:defRPr>
                      </a:pPr>
                      <a:r>
                        <a:t>A Survey on Automatic Dashboard Recommendation Systems</a:t>
                      </a:r>
                    </a:p>
                  </a:txBody>
                  <a:tcPr marL="36576" marR="36576" marT="18288" marB="18288">
                    <a:solidFill>
                      <a:srgbClr val="FFFFFF"/>
                    </a:solidFill>
                  </a:tcPr>
                </a:tc>
                <a:tc>
                  <a:txBody>
                    <a:bodyPr/>
                    <a:lstStyle/>
                    <a:p>
                      <a:pPr>
                        <a:defRPr sz="720" b="0">
                          <a:solidFill>
                            <a:srgbClr val="23272D"/>
                          </a:solidFill>
                          <a:latin typeface="Aptos"/>
                        </a:defRPr>
                      </a:pPr>
                      <a:r>
                        <a:t>Reviews automatic and semi-automatic dashboard recommendation techniques.</a:t>
                      </a:r>
                    </a:p>
                  </a:txBody>
                  <a:tcPr marL="36576" marR="36576" marT="18288" marB="18288">
                    <a:solidFill>
                      <a:srgbClr val="FFFFFF"/>
                    </a:solidFill>
                  </a:tcPr>
                </a:tc>
                <a:tc>
                  <a:txBody>
                    <a:bodyPr/>
                    <a:lstStyle/>
                    <a:p>
                      <a:pPr>
                        <a:defRPr sz="720" b="0">
                          <a:solidFill>
                            <a:srgbClr val="23272D"/>
                          </a:solidFill>
                          <a:latin typeface="Aptos"/>
                        </a:defRPr>
                      </a:pPr>
                      <a:r>
                        <a:rPr dirty="0"/>
                        <a:t>Dashboard systems recommend charts/layouts using different criteria.</a:t>
                      </a:r>
                    </a:p>
                  </a:txBody>
                  <a:tcPr marL="36576" marR="36576" marT="18288" marB="18288">
                    <a:solidFill>
                      <a:srgbClr val="FFFFFF"/>
                    </a:solidFill>
                  </a:tcPr>
                </a:tc>
                <a:tc>
                  <a:txBody>
                    <a:bodyPr/>
                    <a:lstStyle/>
                    <a:p>
                      <a:pPr>
                        <a:defRPr sz="720" b="0">
                          <a:solidFill>
                            <a:srgbClr val="23272D"/>
                          </a:solidFill>
                          <a:latin typeface="Aptos"/>
                        </a:defRPr>
                      </a:pPr>
                      <a:r>
                        <a:rPr dirty="0"/>
                        <a:t>Positions our implementation as a reusable baseline; verify exact metadata before submission.</a:t>
                      </a:r>
                    </a:p>
                  </a:txBody>
                  <a:tcPr marL="36576" marR="36576" marT="18288" marB="18288">
                    <a:solidFill>
                      <a:srgbClr val="FFFFFF"/>
                    </a:solidFill>
                  </a:tcPr>
                </a:tc>
                <a:extLst>
                  <a:ext uri="{0D108BD9-81ED-4DB2-BD59-A6C34878D82A}">
                    <a16:rowId xmlns:a16="http://schemas.microsoft.com/office/drawing/2014/main" val="1582282177"/>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2635045" y="136525"/>
            <a:ext cx="6390967" cy="430887"/>
          </a:xfrm>
          <a:prstGeom prst="rect">
            <a:avLst/>
          </a:prstGeom>
          <a:noFill/>
        </p:spPr>
        <p:txBody>
          <a:bodyPr wrap="square" rtlCol="0">
            <a:spAutoFit/>
          </a:bodyPr>
          <a:lstStyle/>
          <a:p>
            <a:pPr>
              <a:defRPr sz="2200" b="1">
                <a:solidFill>
                  <a:srgbClr val="A00014"/>
                </a:solidFill>
                <a:latin typeface="Aptos Display"/>
              </a:defRPr>
            </a:pPr>
            <a:r>
              <a:t>Literature Survey — Recent Research (2024–2025)</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r>
              <a:t>5</a:t>
            </a: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960120" y="1828800"/>
            <a:ext cx="9144000" cy="3474720"/>
          </a:xfrm>
          <a:prstGeom prst="rect">
            <a:avLst/>
          </a:prstGeom>
          <a:noFill/>
        </p:spPr>
        <p:txBody>
          <a:bodyPr wrap="square" lIns="73152" tIns="36576" rIns="73152" bIns="36576">
            <a:spAutoFit/>
          </a:bodyPr>
          <a:lstStyle/>
          <a:p>
            <a:pPr>
              <a:spcAft>
                <a:spcPts val="800"/>
              </a:spcAft>
              <a:defRPr sz="1800">
                <a:solidFill>
                  <a:srgbClr val="232323"/>
                </a:solidFill>
                <a:latin typeface="Aptos"/>
              </a:defRPr>
            </a:pPr>
            <a:r>
              <a:t>• Many EDA workflows are code-driven and require repeated implementation for different datasets.</a:t>
            </a:r>
          </a:p>
          <a:p>
            <a:pPr>
              <a:spcAft>
                <a:spcPts val="800"/>
              </a:spcAft>
              <a:defRPr sz="1800">
                <a:solidFill>
                  <a:srgbClr val="232323"/>
                </a:solidFill>
                <a:latin typeface="Aptos"/>
              </a:defRPr>
            </a:pPr>
            <a:r>
              <a:t>• Raw CSV files do not immediately provide an integrated view of data quality, statistics, and visual patterns.</a:t>
            </a:r>
          </a:p>
          <a:p>
            <a:pPr>
              <a:spcAft>
                <a:spcPts val="800"/>
              </a:spcAft>
              <a:defRPr sz="1800">
                <a:solidFill>
                  <a:srgbClr val="232323"/>
                </a:solidFill>
                <a:latin typeface="Aptos"/>
              </a:defRPr>
            </a:pPr>
            <a:r>
              <a:t>• Different EDA outputs are often created separately instead of being presented through one reusable interface.</a:t>
            </a:r>
          </a:p>
          <a:p>
            <a:pPr>
              <a:spcAft>
                <a:spcPts val="800"/>
              </a:spcAft>
              <a:defRPr sz="1800">
                <a:solidFill>
                  <a:srgbClr val="232323"/>
                </a:solidFill>
                <a:latin typeface="Aptos"/>
              </a:defRPr>
            </a:pPr>
            <a:r>
              <a:t>• Beginners may find it difficult to choose, configure, and interpret multiple EDA plots manually.</a:t>
            </a:r>
          </a:p>
          <a:p>
            <a:pPr>
              <a:spcAft>
                <a:spcPts val="800"/>
              </a:spcAft>
              <a:defRPr sz="1800">
                <a:solidFill>
                  <a:srgbClr val="232323"/>
                </a:solidFill>
                <a:latin typeface="Aptos"/>
              </a:defRPr>
            </a:pPr>
            <a:r>
              <a:t>• The proposed dashboard combines data inspection, descriptive statistics, and common visual EDA in one interactive workflow.</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r>
              <a:t>6</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none">
            <a:spAutoFit/>
          </a:bodyPr>
          <a:lstStyle/>
          <a:p>
            <a:pPr>
              <a:defRPr sz="2700" b="1">
                <a:solidFill>
                  <a:srgbClr val="A00014"/>
                </a:solidFill>
                <a:latin typeface="Aptos Display"/>
              </a:defRPr>
            </a:pPr>
            <a:r>
              <a:t>Proposed Methodology</a:t>
            </a:r>
          </a:p>
        </p:txBody>
      </p:sp>
      <p:sp>
        <p:nvSpPr>
          <p:cNvPr id="3" name="Rectangle 2"/>
          <p:cNvSpPr/>
          <p:nvPr/>
        </p:nvSpPr>
        <p:spPr>
          <a:xfrm>
            <a:off x="530352" y="832104"/>
            <a:ext cx="1143000" cy="54864"/>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0" y="6473952"/>
            <a:ext cx="502920" cy="201168"/>
          </a:xfrm>
          <a:prstGeom prst="rect">
            <a:avLst/>
          </a:prstGeom>
          <a:noFill/>
        </p:spPr>
        <p:txBody>
          <a:bodyPr wrap="none">
            <a:spAutoFit/>
          </a:bodyPr>
          <a:lstStyle/>
          <a:p>
            <a:r>
              <a:t>7</a:t>
            </a:r>
          </a:p>
        </p:txBody>
      </p:sp>
      <p:sp>
        <p:nvSpPr>
          <p:cNvPr id="5" name="Rounded Rectangle 4"/>
          <p:cNvSpPr/>
          <p:nvPr/>
        </p:nvSpPr>
        <p:spPr>
          <a:xfrm>
            <a:off x="548640" y="11430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64008" cy="141732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71016"/>
            <a:ext cx="3017520" cy="1216152"/>
          </a:xfrm>
          <a:prstGeom prst="rect">
            <a:avLst/>
          </a:prstGeom>
          <a:noFill/>
        </p:spPr>
        <p:txBody>
          <a:bodyPr wrap="square">
            <a:spAutoFit/>
          </a:bodyPr>
          <a:lstStyle/>
          <a:p>
            <a:pPr>
              <a:spcAft>
                <a:spcPts val="700"/>
              </a:spcAft>
              <a:defRPr sz="1700" b="1">
                <a:solidFill>
                  <a:srgbClr val="23272D"/>
                </a:solidFill>
                <a:latin typeface="Aptos"/>
              </a:defRPr>
            </a:pPr>
            <a:r>
              <a:t>1. Upload &amp; validate</a:t>
            </a:r>
          </a:p>
          <a:p>
            <a:pPr>
              <a:spcAft>
                <a:spcPts val="200"/>
              </a:spcAft>
              <a:defRPr sz="1200">
                <a:solidFill>
                  <a:srgbClr val="5A626C"/>
                </a:solidFill>
                <a:latin typeface="Aptos"/>
              </a:defRPr>
            </a:pPr>
            <a:r>
              <a:t>User uploads a CSV. Check file type, readability, empty file and column names.</a:t>
            </a:r>
          </a:p>
        </p:txBody>
      </p:sp>
      <p:sp>
        <p:nvSpPr>
          <p:cNvPr id="8" name="Rounded Rectangle 7"/>
          <p:cNvSpPr/>
          <p:nvPr/>
        </p:nvSpPr>
        <p:spPr>
          <a:xfrm>
            <a:off x="4160520" y="11430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60520" y="1143000"/>
            <a:ext cx="64008" cy="141732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43400" y="1271016"/>
            <a:ext cx="3017520" cy="1216152"/>
          </a:xfrm>
          <a:prstGeom prst="rect">
            <a:avLst/>
          </a:prstGeom>
          <a:noFill/>
        </p:spPr>
        <p:txBody>
          <a:bodyPr wrap="square">
            <a:spAutoFit/>
          </a:bodyPr>
          <a:lstStyle/>
          <a:p>
            <a:pPr>
              <a:spcAft>
                <a:spcPts val="700"/>
              </a:spcAft>
              <a:defRPr sz="1700" b="1">
                <a:solidFill>
                  <a:srgbClr val="23272D"/>
                </a:solidFill>
                <a:latin typeface="Aptos"/>
              </a:defRPr>
            </a:pPr>
            <a:r>
              <a:t>2. Profile the dataset</a:t>
            </a:r>
          </a:p>
          <a:p>
            <a:pPr>
              <a:spcAft>
                <a:spcPts val="200"/>
              </a:spcAft>
              <a:defRPr sz="1200">
                <a:solidFill>
                  <a:srgbClr val="5A626C"/>
                </a:solidFill>
                <a:latin typeface="Aptos"/>
              </a:defRPr>
            </a:pPr>
            <a:r>
              <a:t>Read with Pandas; detect dimensions, inferred dtypes, missing cells and duplicate rows.</a:t>
            </a:r>
          </a:p>
        </p:txBody>
      </p:sp>
      <p:sp>
        <p:nvSpPr>
          <p:cNvPr id="11" name="Rounded Rectangle 10"/>
          <p:cNvSpPr/>
          <p:nvPr/>
        </p:nvSpPr>
        <p:spPr>
          <a:xfrm>
            <a:off x="7772400" y="11430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0" y="1143000"/>
            <a:ext cx="64008" cy="141732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79" y="1271016"/>
            <a:ext cx="3017520" cy="1216152"/>
          </a:xfrm>
          <a:prstGeom prst="rect">
            <a:avLst/>
          </a:prstGeom>
          <a:noFill/>
        </p:spPr>
        <p:txBody>
          <a:bodyPr wrap="square">
            <a:spAutoFit/>
          </a:bodyPr>
          <a:lstStyle/>
          <a:p>
            <a:pPr>
              <a:spcAft>
                <a:spcPts val="700"/>
              </a:spcAft>
              <a:defRPr sz="1700" b="1">
                <a:solidFill>
                  <a:srgbClr val="23272D"/>
                </a:solidFill>
                <a:latin typeface="Aptos"/>
              </a:defRPr>
            </a:pPr>
            <a:r>
              <a:t>3. Prepare analysis views</a:t>
            </a:r>
          </a:p>
          <a:p>
            <a:pPr>
              <a:spcAft>
                <a:spcPts val="200"/>
              </a:spcAft>
              <a:defRPr sz="1200">
                <a:solidFill>
                  <a:srgbClr val="5A626C"/>
                </a:solidFill>
                <a:latin typeface="Aptos"/>
              </a:defRPr>
            </a:pPr>
            <a:r>
              <a:t>Separate numeric and categorical columns; compute summary statistics and quality indicators.</a:t>
            </a:r>
          </a:p>
        </p:txBody>
      </p:sp>
      <p:sp>
        <p:nvSpPr>
          <p:cNvPr id="14" name="Rounded Rectangle 13"/>
          <p:cNvSpPr/>
          <p:nvPr/>
        </p:nvSpPr>
        <p:spPr>
          <a:xfrm>
            <a:off x="548640" y="29718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2971800"/>
            <a:ext cx="64008" cy="141732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099816"/>
            <a:ext cx="3017520" cy="1216152"/>
          </a:xfrm>
          <a:prstGeom prst="rect">
            <a:avLst/>
          </a:prstGeom>
          <a:noFill/>
        </p:spPr>
        <p:txBody>
          <a:bodyPr wrap="square">
            <a:spAutoFit/>
          </a:bodyPr>
          <a:lstStyle/>
          <a:p>
            <a:pPr>
              <a:spcAft>
                <a:spcPts val="700"/>
              </a:spcAft>
              <a:defRPr sz="1700" b="1">
                <a:solidFill>
                  <a:srgbClr val="23272D"/>
                </a:solidFill>
                <a:latin typeface="Aptos"/>
              </a:defRPr>
            </a:pPr>
            <a:r>
              <a:t>4. Generate visual EDA</a:t>
            </a:r>
          </a:p>
          <a:p>
            <a:pPr>
              <a:spcAft>
                <a:spcPts val="200"/>
              </a:spcAft>
              <a:defRPr sz="1200">
                <a:solidFill>
                  <a:srgbClr val="5A626C"/>
                </a:solidFill>
                <a:latin typeface="Aptos"/>
              </a:defRPr>
            </a:pPr>
            <a:r>
              <a:t>Create histograms, box plots, correlation heatmap and pairplot when suitable.</a:t>
            </a:r>
          </a:p>
        </p:txBody>
      </p:sp>
      <p:sp>
        <p:nvSpPr>
          <p:cNvPr id="17" name="Rounded Rectangle 16"/>
          <p:cNvSpPr/>
          <p:nvPr/>
        </p:nvSpPr>
        <p:spPr>
          <a:xfrm>
            <a:off x="4160520" y="29718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60520" y="2971800"/>
            <a:ext cx="64008" cy="141732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3099816"/>
            <a:ext cx="3017520" cy="1216152"/>
          </a:xfrm>
          <a:prstGeom prst="rect">
            <a:avLst/>
          </a:prstGeom>
          <a:noFill/>
        </p:spPr>
        <p:txBody>
          <a:bodyPr wrap="square">
            <a:spAutoFit/>
          </a:bodyPr>
          <a:lstStyle/>
          <a:p>
            <a:pPr>
              <a:spcAft>
                <a:spcPts val="700"/>
              </a:spcAft>
              <a:defRPr sz="1700" b="1">
                <a:solidFill>
                  <a:srgbClr val="23272D"/>
                </a:solidFill>
                <a:latin typeface="Aptos"/>
              </a:defRPr>
            </a:pPr>
            <a:r>
              <a:t>5. Explore interactively</a:t>
            </a:r>
          </a:p>
          <a:p>
            <a:pPr>
              <a:spcAft>
                <a:spcPts val="200"/>
              </a:spcAft>
              <a:defRPr sz="1200">
                <a:solidFill>
                  <a:srgbClr val="5A626C"/>
                </a:solidFill>
                <a:latin typeface="Aptos"/>
              </a:defRPr>
            </a:pPr>
            <a:r>
              <a:t>Streamlit controls let users select columns and compare views; show results in one dashboard.</a:t>
            </a:r>
          </a:p>
        </p:txBody>
      </p:sp>
      <p:sp>
        <p:nvSpPr>
          <p:cNvPr id="20" name="Rounded Rectangle 19"/>
          <p:cNvSpPr/>
          <p:nvPr/>
        </p:nvSpPr>
        <p:spPr>
          <a:xfrm>
            <a:off x="7772400" y="2971800"/>
            <a:ext cx="3337560" cy="141732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0" y="2971800"/>
            <a:ext cx="64008" cy="141732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79" y="3099816"/>
            <a:ext cx="3017520" cy="1216152"/>
          </a:xfrm>
          <a:prstGeom prst="rect">
            <a:avLst/>
          </a:prstGeom>
          <a:noFill/>
        </p:spPr>
        <p:txBody>
          <a:bodyPr wrap="square">
            <a:spAutoFit/>
          </a:bodyPr>
          <a:lstStyle/>
          <a:p>
            <a:pPr>
              <a:spcAft>
                <a:spcPts val="700"/>
              </a:spcAft>
              <a:defRPr sz="1700" b="1">
                <a:solidFill>
                  <a:srgbClr val="23272D"/>
                </a:solidFill>
                <a:latin typeface="Aptos"/>
              </a:defRPr>
            </a:pPr>
            <a:r>
              <a:t>6. Interpret &amp; iterate</a:t>
            </a:r>
          </a:p>
          <a:p>
            <a:pPr>
              <a:spcAft>
                <a:spcPts val="200"/>
              </a:spcAft>
              <a:defRPr sz="1200">
                <a:solidFill>
                  <a:srgbClr val="5A626C"/>
                </a:solidFill>
                <a:latin typeface="Aptos"/>
              </a:defRPr>
            </a:pPr>
            <a:r>
              <a:t>User reviews patterns and data-quality flags, changes selections and repeats exploration.</a:t>
            </a:r>
          </a:p>
        </p:txBody>
      </p:sp>
      <p:sp>
        <p:nvSpPr>
          <p:cNvPr id="23" name="TextBox 22"/>
          <p:cNvSpPr txBox="1"/>
          <p:nvPr/>
        </p:nvSpPr>
        <p:spPr>
          <a:xfrm>
            <a:off x="685800" y="4983480"/>
            <a:ext cx="10881360" cy="594360"/>
          </a:xfrm>
          <a:prstGeom prst="rect">
            <a:avLst/>
          </a:prstGeom>
          <a:noFill/>
        </p:spPr>
        <p:txBody>
          <a:bodyPr wrap="none">
            <a:spAutoFit/>
          </a:bodyPr>
          <a:lstStyle/>
          <a:p>
            <a:pPr algn="ctr">
              <a:defRPr sz="1600" b="1">
                <a:solidFill>
                  <a:srgbClr val="A00014"/>
                </a:solidFill>
                <a:latin typeface="Aptos"/>
              </a:defRPr>
            </a:pPr>
            <a:r>
              <a:t>Workflow: CSV → validation &amp; profiling → statistics + plots → interactive dashboard → analyst interpretation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none">
            <a:spAutoFit/>
          </a:bodyPr>
          <a:lstStyle/>
          <a:p>
            <a:pPr>
              <a:defRPr sz="2700" b="1">
                <a:solidFill>
                  <a:srgbClr val="A00014"/>
                </a:solidFill>
                <a:latin typeface="Aptos Display"/>
              </a:defRPr>
            </a:pPr>
            <a:r>
              <a:t>Algorithms Used</a:t>
            </a:r>
          </a:p>
        </p:txBody>
      </p:sp>
      <p:sp>
        <p:nvSpPr>
          <p:cNvPr id="3" name="Rectangle 2"/>
          <p:cNvSpPr/>
          <p:nvPr/>
        </p:nvSpPr>
        <p:spPr>
          <a:xfrm>
            <a:off x="530352" y="832104"/>
            <a:ext cx="1143000" cy="54864"/>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0" y="6473952"/>
            <a:ext cx="502920" cy="201168"/>
          </a:xfrm>
          <a:prstGeom prst="rect">
            <a:avLst/>
          </a:prstGeom>
          <a:noFill/>
        </p:spPr>
        <p:txBody>
          <a:bodyPr wrap="none">
            <a:spAutoFit/>
          </a:bodyPr>
          <a:lstStyle/>
          <a:p>
            <a:r>
              <a:t>8</a:t>
            </a:r>
          </a:p>
        </p:txBody>
      </p:sp>
      <p:sp>
        <p:nvSpPr>
          <p:cNvPr id="5" name="Rounded Rectangle 4"/>
          <p:cNvSpPr/>
          <p:nvPr/>
        </p:nvSpPr>
        <p:spPr>
          <a:xfrm>
            <a:off x="548640" y="1143000"/>
            <a:ext cx="5440680" cy="1874519"/>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64008" cy="1874519"/>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71016"/>
            <a:ext cx="5120640" cy="1673351"/>
          </a:xfrm>
          <a:prstGeom prst="rect">
            <a:avLst/>
          </a:prstGeom>
          <a:noFill/>
        </p:spPr>
        <p:txBody>
          <a:bodyPr wrap="square">
            <a:spAutoFit/>
          </a:bodyPr>
          <a:lstStyle/>
          <a:p>
            <a:pPr>
              <a:spcAft>
                <a:spcPts val="700"/>
              </a:spcAft>
              <a:defRPr sz="1700" b="1">
                <a:solidFill>
                  <a:srgbClr val="23272D"/>
                </a:solidFill>
                <a:latin typeface="Aptos"/>
              </a:defRPr>
            </a:pPr>
            <a:r>
              <a:t>A. Data-quality profiling</a:t>
            </a:r>
          </a:p>
          <a:p>
            <a:pPr>
              <a:spcAft>
                <a:spcPts val="200"/>
              </a:spcAft>
              <a:defRPr sz="1300">
                <a:solidFill>
                  <a:srgbClr val="5A626C"/>
                </a:solidFill>
                <a:latin typeface="Aptos"/>
              </a:defRPr>
            </a:pPr>
            <a:r>
              <a:t>• Missing values: count nulls per column; missing % = null count / row count × 100</a:t>
            </a:r>
            <a:br/>
            <a:r>
              <a:t>• Duplicates: count duplicated rows</a:t>
            </a:r>
            <a:br/>
            <a:r>
              <a:t>• Type profiling: classify numeric vs categorical columns</a:t>
            </a:r>
          </a:p>
        </p:txBody>
      </p:sp>
      <p:sp>
        <p:nvSpPr>
          <p:cNvPr id="8" name="Rounded Rectangle 7"/>
          <p:cNvSpPr/>
          <p:nvPr/>
        </p:nvSpPr>
        <p:spPr>
          <a:xfrm>
            <a:off x="6217920" y="1143000"/>
            <a:ext cx="5440680" cy="1874519"/>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1143000"/>
            <a:ext cx="64008" cy="1874519"/>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271016"/>
            <a:ext cx="5120640" cy="1673351"/>
          </a:xfrm>
          <a:prstGeom prst="rect">
            <a:avLst/>
          </a:prstGeom>
          <a:noFill/>
        </p:spPr>
        <p:txBody>
          <a:bodyPr wrap="square">
            <a:spAutoFit/>
          </a:bodyPr>
          <a:lstStyle/>
          <a:p>
            <a:pPr>
              <a:spcAft>
                <a:spcPts val="700"/>
              </a:spcAft>
              <a:defRPr sz="1700" b="1">
                <a:solidFill>
                  <a:srgbClr val="23272D"/>
                </a:solidFill>
                <a:latin typeface="Aptos"/>
              </a:defRPr>
            </a:pPr>
            <a:r>
              <a:t>B. Descriptive statistics</a:t>
            </a:r>
          </a:p>
          <a:p>
            <a:pPr>
              <a:spcAft>
                <a:spcPts val="200"/>
              </a:spcAft>
              <a:defRPr sz="1300">
                <a:solidFill>
                  <a:srgbClr val="5A626C"/>
                </a:solidFill>
                <a:latin typeface="Aptos"/>
              </a:defRPr>
            </a:pPr>
            <a:r>
              <a:t>• Numeric columns: count, mean, standard deviation, min, quartiles and max</a:t>
            </a:r>
            <a:br/>
            <a:r>
              <a:t>• Categorical columns: frequency counts / unique values</a:t>
            </a:r>
            <a:br/>
            <a:r>
              <a:t>• Use robust summaries to reveal spread and skew</a:t>
            </a:r>
          </a:p>
        </p:txBody>
      </p:sp>
      <p:sp>
        <p:nvSpPr>
          <p:cNvPr id="11" name="Rounded Rectangle 10"/>
          <p:cNvSpPr/>
          <p:nvPr/>
        </p:nvSpPr>
        <p:spPr>
          <a:xfrm>
            <a:off x="548640" y="3291840"/>
            <a:ext cx="5440680" cy="1874519"/>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291840"/>
            <a:ext cx="64008" cy="1874519"/>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419856"/>
            <a:ext cx="5120640" cy="1673351"/>
          </a:xfrm>
          <a:prstGeom prst="rect">
            <a:avLst/>
          </a:prstGeom>
          <a:noFill/>
        </p:spPr>
        <p:txBody>
          <a:bodyPr wrap="square">
            <a:spAutoFit/>
          </a:bodyPr>
          <a:lstStyle/>
          <a:p>
            <a:pPr>
              <a:spcAft>
                <a:spcPts val="700"/>
              </a:spcAft>
              <a:defRPr sz="1700" b="1">
                <a:solidFill>
                  <a:srgbClr val="23272D"/>
                </a:solidFill>
                <a:latin typeface="Aptos"/>
              </a:defRPr>
            </a:pPr>
            <a:r>
              <a:t>C. Visualization selection rules</a:t>
            </a:r>
          </a:p>
          <a:p>
            <a:pPr>
              <a:spcAft>
                <a:spcPts val="200"/>
              </a:spcAft>
              <a:defRPr sz="1300">
                <a:solidFill>
                  <a:srgbClr val="5A626C"/>
                </a:solidFill>
                <a:latin typeface="Aptos"/>
              </a:defRPr>
            </a:pPr>
            <a:r>
              <a:t>• Numeric column → histogram and box plot</a:t>
            </a:r>
            <a:br/>
            <a:r>
              <a:t>• Two or more numeric columns → correlation matrix / heatmap</a:t>
            </a:r>
            <a:br/>
            <a:r>
              <a:t>• Pairplot only for a manageable number of numeric columns to avoid clutter</a:t>
            </a:r>
          </a:p>
        </p:txBody>
      </p:sp>
      <p:sp>
        <p:nvSpPr>
          <p:cNvPr id="14" name="Rounded Rectangle 13"/>
          <p:cNvSpPr/>
          <p:nvPr/>
        </p:nvSpPr>
        <p:spPr>
          <a:xfrm>
            <a:off x="6217920" y="3291840"/>
            <a:ext cx="5440680" cy="1874519"/>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3291840"/>
            <a:ext cx="64008" cy="1874519"/>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419856"/>
            <a:ext cx="5120640" cy="1673351"/>
          </a:xfrm>
          <a:prstGeom prst="rect">
            <a:avLst/>
          </a:prstGeom>
          <a:noFill/>
        </p:spPr>
        <p:txBody>
          <a:bodyPr wrap="square">
            <a:spAutoFit/>
          </a:bodyPr>
          <a:lstStyle/>
          <a:p>
            <a:pPr>
              <a:spcAft>
                <a:spcPts val="700"/>
              </a:spcAft>
              <a:defRPr sz="1700" b="1">
                <a:solidFill>
                  <a:srgbClr val="23272D"/>
                </a:solidFill>
                <a:latin typeface="Aptos"/>
              </a:defRPr>
            </a:pPr>
            <a:r>
              <a:t>D. Correlation &amp; outlier cues</a:t>
            </a:r>
          </a:p>
          <a:p>
            <a:pPr>
              <a:spcAft>
                <a:spcPts val="200"/>
              </a:spcAft>
              <a:defRPr sz="1300">
                <a:solidFill>
                  <a:srgbClr val="5A626C"/>
                </a:solidFill>
                <a:latin typeface="Aptos"/>
              </a:defRPr>
            </a:pPr>
            <a:r>
              <a:t>• Pearson correlation for linear association between numeric variables</a:t>
            </a:r>
            <a:br/>
            <a:r>
              <a:t>• Box plot uses Q1, Q3 and IQR = Q3 − Q1</a:t>
            </a:r>
            <a:br/>
            <a:r>
              <a:t>• Flag potential outliers outside Q1 − 1.5×IQR or Q3 + 1.5×IQR; treat as review cues, not errors</a:t>
            </a:r>
          </a:p>
        </p:txBody>
      </p:sp>
      <p:sp>
        <p:nvSpPr>
          <p:cNvPr id="17" name="TextBox 16"/>
          <p:cNvSpPr txBox="1"/>
          <p:nvPr/>
        </p:nvSpPr>
        <p:spPr>
          <a:xfrm>
            <a:off x="685800" y="5486400"/>
            <a:ext cx="10881360" cy="411480"/>
          </a:xfrm>
          <a:prstGeom prst="rect">
            <a:avLst/>
          </a:prstGeom>
          <a:noFill/>
        </p:spPr>
        <p:txBody>
          <a:bodyPr wrap="none">
            <a:spAutoFit/>
          </a:bodyPr>
          <a:lstStyle/>
          <a:p>
            <a:pPr>
              <a:defRPr sz="1200" i="1">
                <a:solidFill>
                  <a:srgbClr val="5A626C"/>
                </a:solidFill>
                <a:latin typeface="Aptos"/>
              </a:defRPr>
            </a:pPr>
            <a:r>
              <a:t>These are planned baseline algorithms for the project; they do not imply machine-learning prediction or causal inference.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none">
            <a:spAutoFit/>
          </a:bodyPr>
          <a:lstStyle/>
          <a:p>
            <a:pPr>
              <a:defRPr sz="2700" b="1">
                <a:solidFill>
                  <a:srgbClr val="A00014"/>
                </a:solidFill>
                <a:latin typeface="Aptos Display"/>
              </a:defRPr>
            </a:pPr>
            <a:r>
              <a:t>Implementation Details</a:t>
            </a:r>
          </a:p>
        </p:txBody>
      </p:sp>
      <p:sp>
        <p:nvSpPr>
          <p:cNvPr id="3" name="Rectangle 2"/>
          <p:cNvSpPr/>
          <p:nvPr/>
        </p:nvSpPr>
        <p:spPr>
          <a:xfrm>
            <a:off x="530352" y="832104"/>
            <a:ext cx="1143000" cy="54864"/>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0" y="6473952"/>
            <a:ext cx="502920" cy="201168"/>
          </a:xfrm>
          <a:prstGeom prst="rect">
            <a:avLst/>
          </a:prstGeom>
          <a:noFill/>
        </p:spPr>
        <p:txBody>
          <a:bodyPr wrap="none">
            <a:spAutoFit/>
          </a:bodyPr>
          <a:lstStyle/>
          <a:p>
            <a:r>
              <a:t>9</a:t>
            </a:r>
          </a:p>
        </p:txBody>
      </p:sp>
      <p:sp>
        <p:nvSpPr>
          <p:cNvPr id="5" name="Rounded Rectangle 4"/>
          <p:cNvSpPr/>
          <p:nvPr/>
        </p:nvSpPr>
        <p:spPr>
          <a:xfrm>
            <a:off x="548640" y="1143000"/>
            <a:ext cx="3520440" cy="182880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64008" cy="182880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71016"/>
            <a:ext cx="3200400" cy="1627632"/>
          </a:xfrm>
          <a:prstGeom prst="rect">
            <a:avLst/>
          </a:prstGeom>
          <a:noFill/>
        </p:spPr>
        <p:txBody>
          <a:bodyPr wrap="square">
            <a:spAutoFit/>
          </a:bodyPr>
          <a:lstStyle/>
          <a:p>
            <a:pPr>
              <a:spcAft>
                <a:spcPts val="700"/>
              </a:spcAft>
              <a:defRPr sz="1700" b="1">
                <a:solidFill>
                  <a:srgbClr val="23272D"/>
                </a:solidFill>
                <a:latin typeface="Aptos"/>
              </a:defRPr>
            </a:pPr>
            <a:r>
              <a:t>Frontend / app layer</a:t>
            </a:r>
          </a:p>
          <a:p>
            <a:pPr>
              <a:spcAft>
                <a:spcPts val="200"/>
              </a:spcAft>
              <a:defRPr sz="1300">
                <a:solidFill>
                  <a:srgbClr val="5A626C"/>
                </a:solidFill>
                <a:latin typeface="Aptos"/>
              </a:defRPr>
            </a:pPr>
            <a:r>
              <a:t>Streamlit</a:t>
            </a:r>
            <a:br/>
            <a:r>
              <a:t>• CSV uploader</a:t>
            </a:r>
            <a:br/>
            <a:r>
              <a:t>• Sidebar column selectors</a:t>
            </a:r>
            <a:br/>
            <a:r>
              <a:t>• Tabs/sections for overview, statistics and plots</a:t>
            </a:r>
            <a:br/>
            <a:r>
              <a:t>• Reactive updates when controls change</a:t>
            </a:r>
          </a:p>
        </p:txBody>
      </p:sp>
      <p:sp>
        <p:nvSpPr>
          <p:cNvPr id="8" name="Rounded Rectangle 7"/>
          <p:cNvSpPr/>
          <p:nvPr/>
        </p:nvSpPr>
        <p:spPr>
          <a:xfrm>
            <a:off x="4343400" y="1143000"/>
            <a:ext cx="3520440" cy="182880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143000"/>
            <a:ext cx="64008" cy="182880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271016"/>
            <a:ext cx="3200400" cy="1627632"/>
          </a:xfrm>
          <a:prstGeom prst="rect">
            <a:avLst/>
          </a:prstGeom>
          <a:noFill/>
        </p:spPr>
        <p:txBody>
          <a:bodyPr wrap="square">
            <a:spAutoFit/>
          </a:bodyPr>
          <a:lstStyle/>
          <a:p>
            <a:pPr>
              <a:spcAft>
                <a:spcPts val="700"/>
              </a:spcAft>
              <a:defRPr sz="1700" b="1">
                <a:solidFill>
                  <a:srgbClr val="23272D"/>
                </a:solidFill>
                <a:latin typeface="Aptos"/>
              </a:defRPr>
            </a:pPr>
            <a:r>
              <a:t>Data processing</a:t>
            </a:r>
          </a:p>
          <a:p>
            <a:pPr>
              <a:spcAft>
                <a:spcPts val="200"/>
              </a:spcAft>
              <a:defRPr sz="1300">
                <a:solidFill>
                  <a:srgbClr val="5A626C"/>
                </a:solidFill>
                <a:latin typeface="Aptos"/>
              </a:defRPr>
            </a:pPr>
            <a:r>
              <a:t>Pandas + NumPy</a:t>
            </a:r>
            <a:br/>
            <a:r>
              <a:t>• pd.read_csv() ingestion</a:t>
            </a:r>
            <a:br/>
            <a:r>
              <a:t>• df.shape, df.dtypes, df.isna(), df.duplicated()</a:t>
            </a:r>
            <a:br/>
            <a:r>
              <a:t>• describe() and value_counts()</a:t>
            </a:r>
            <a:br/>
            <a:r>
              <a:t>• Numeric/categorical column lists</a:t>
            </a:r>
          </a:p>
        </p:txBody>
      </p:sp>
      <p:sp>
        <p:nvSpPr>
          <p:cNvPr id="11" name="Rounded Rectangle 10"/>
          <p:cNvSpPr/>
          <p:nvPr/>
        </p:nvSpPr>
        <p:spPr>
          <a:xfrm>
            <a:off x="8138160" y="1143000"/>
            <a:ext cx="3520440" cy="182880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38160" y="1143000"/>
            <a:ext cx="64008" cy="182880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271016"/>
            <a:ext cx="3200400" cy="1627632"/>
          </a:xfrm>
          <a:prstGeom prst="rect">
            <a:avLst/>
          </a:prstGeom>
          <a:noFill/>
        </p:spPr>
        <p:txBody>
          <a:bodyPr wrap="square">
            <a:spAutoFit/>
          </a:bodyPr>
          <a:lstStyle/>
          <a:p>
            <a:pPr>
              <a:spcAft>
                <a:spcPts val="700"/>
              </a:spcAft>
              <a:defRPr sz="1700" b="1">
                <a:solidFill>
                  <a:srgbClr val="23272D"/>
                </a:solidFill>
                <a:latin typeface="Aptos"/>
              </a:defRPr>
            </a:pPr>
            <a:r>
              <a:t>Visualization layer</a:t>
            </a:r>
          </a:p>
          <a:p>
            <a:pPr>
              <a:spcAft>
                <a:spcPts val="200"/>
              </a:spcAft>
              <a:defRPr sz="1300">
                <a:solidFill>
                  <a:srgbClr val="5A626C"/>
                </a:solidFill>
                <a:latin typeface="Aptos"/>
              </a:defRPr>
            </a:pPr>
            <a:r>
              <a:t>Plotly / Seaborn / Matplotlib</a:t>
            </a:r>
            <a:br/>
            <a:r>
              <a:t>• Histogram and box plot</a:t>
            </a:r>
            <a:br/>
            <a:r>
              <a:t>• Correlation heatmap</a:t>
            </a:r>
            <a:br/>
            <a:r>
              <a:t>• Pairplot when dataset size permits</a:t>
            </a:r>
            <a:br/>
            <a:r>
              <a:t>• Render with Streamlit chart functions</a:t>
            </a:r>
          </a:p>
        </p:txBody>
      </p:sp>
      <p:sp>
        <p:nvSpPr>
          <p:cNvPr id="14" name="Rounded Rectangle 13"/>
          <p:cNvSpPr/>
          <p:nvPr/>
        </p:nvSpPr>
        <p:spPr>
          <a:xfrm>
            <a:off x="548640" y="3337560"/>
            <a:ext cx="5440680" cy="160020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337560"/>
            <a:ext cx="64008" cy="1600200"/>
          </a:xfrm>
          <a:prstGeom prst="rect">
            <a:avLst/>
          </a:prstGeom>
          <a:solidFill>
            <a:srgbClr val="A00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65576"/>
            <a:ext cx="5120640" cy="1399032"/>
          </a:xfrm>
          <a:prstGeom prst="rect">
            <a:avLst/>
          </a:prstGeom>
          <a:noFill/>
        </p:spPr>
        <p:txBody>
          <a:bodyPr wrap="square">
            <a:spAutoFit/>
          </a:bodyPr>
          <a:lstStyle/>
          <a:p>
            <a:pPr>
              <a:spcAft>
                <a:spcPts val="700"/>
              </a:spcAft>
              <a:defRPr sz="1700" b="1">
                <a:solidFill>
                  <a:srgbClr val="23272D"/>
                </a:solidFill>
                <a:latin typeface="Aptos"/>
              </a:defRPr>
            </a:pPr>
            <a:r>
              <a:t>Execution flow</a:t>
            </a:r>
          </a:p>
          <a:p>
            <a:pPr>
              <a:spcAft>
                <a:spcPts val="200"/>
              </a:spcAft>
              <a:defRPr sz="1300">
                <a:solidFill>
                  <a:srgbClr val="5A626C"/>
                </a:solidFill>
                <a:latin typeface="Aptos"/>
              </a:defRPr>
            </a:pPr>
            <a:r>
              <a:t>1. Validate upload and handle parsing errors</a:t>
            </a:r>
            <a:br/>
            <a:r>
              <a:t>2. Cache expensive computations where appropriate</a:t>
            </a:r>
            <a:br/>
            <a:r>
              <a:t>3. Recompute only views affected by selected columns</a:t>
            </a:r>
            <a:br/>
            <a:r>
              <a:t>4. Display clear messages for unsupported or empty data</a:t>
            </a:r>
          </a:p>
        </p:txBody>
      </p:sp>
      <p:sp>
        <p:nvSpPr>
          <p:cNvPr id="17" name="Rounded Rectangle 16"/>
          <p:cNvSpPr/>
          <p:nvPr/>
        </p:nvSpPr>
        <p:spPr>
          <a:xfrm>
            <a:off x="6217920" y="3337560"/>
            <a:ext cx="5440680" cy="1600200"/>
          </a:xfrm>
          <a:prstGeom prst="roundRect">
            <a:avLst/>
          </a:prstGeom>
          <a:solidFill>
            <a:srgbClr val="F8F5F6"/>
          </a:solidFill>
          <a:ln>
            <a:solidFill>
              <a:srgbClr val="E6DE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3337560"/>
            <a:ext cx="64008" cy="160020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3465576"/>
            <a:ext cx="5120640" cy="1399032"/>
          </a:xfrm>
          <a:prstGeom prst="rect">
            <a:avLst/>
          </a:prstGeom>
          <a:noFill/>
        </p:spPr>
        <p:txBody>
          <a:bodyPr wrap="square">
            <a:spAutoFit/>
          </a:bodyPr>
          <a:lstStyle/>
          <a:p>
            <a:pPr>
              <a:spcAft>
                <a:spcPts val="700"/>
              </a:spcAft>
              <a:defRPr sz="1700" b="1">
                <a:solidFill>
                  <a:srgbClr val="23272D"/>
                </a:solidFill>
                <a:latin typeface="Aptos"/>
              </a:defRPr>
            </a:pPr>
            <a:r>
              <a:t>Testing &amp; safeguards</a:t>
            </a:r>
          </a:p>
          <a:p>
            <a:pPr>
              <a:spcAft>
                <a:spcPts val="200"/>
              </a:spcAft>
              <a:defRPr sz="1300">
                <a:solidFill>
                  <a:srgbClr val="5A626C"/>
                </a:solidFill>
                <a:latin typeface="Aptos"/>
              </a:defRPr>
            </a:pPr>
            <a:r>
              <a:t>Test numeric-only, categorical-only, mixed-type, missing-value and duplicate-heavy CSVs. Handle empty columns, constant columns and high-cardinality data; limit pairplots for performance. Do not silently impute or delete data.</a:t>
            </a:r>
          </a:p>
        </p:txBody>
      </p:sp>
      <p:sp>
        <p:nvSpPr>
          <p:cNvPr id="20" name="TextBox 19"/>
          <p:cNvSpPr txBox="1"/>
          <p:nvPr/>
        </p:nvSpPr>
        <p:spPr>
          <a:xfrm>
            <a:off x="685800" y="5257800"/>
            <a:ext cx="10881360" cy="548640"/>
          </a:xfrm>
          <a:prstGeom prst="rect">
            <a:avLst/>
          </a:prstGeom>
          <a:noFill/>
        </p:spPr>
        <p:txBody>
          <a:bodyPr wrap="none">
            <a:spAutoFit/>
          </a:bodyPr>
          <a:lstStyle/>
          <a:p>
            <a:pPr>
              <a:defRPr sz="1200" i="1">
                <a:solidFill>
                  <a:srgbClr val="5A626C"/>
                </a:solidFill>
                <a:latin typeface="Aptos"/>
              </a:defRPr>
            </a:pPr>
            <a:r>
              <a:t>Implementation note: this slide describes the proposed design; update library choices and completed features to match the final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914400" y="1828800"/>
            <a:ext cx="9326880" cy="3566160"/>
          </a:xfrm>
          <a:prstGeom prst="rect">
            <a:avLst/>
          </a:prstGeom>
          <a:noFill/>
        </p:spPr>
        <p:txBody>
          <a:bodyPr wrap="square" lIns="73152" tIns="36576" rIns="73152" bIns="36576">
            <a:spAutoFit/>
          </a:bodyPr>
          <a:lstStyle/>
          <a:p>
            <a:pPr>
              <a:spcAft>
                <a:spcPts val="700"/>
              </a:spcAft>
              <a:defRPr sz="1700">
                <a:solidFill>
                  <a:srgbClr val="232323"/>
                </a:solidFill>
                <a:latin typeface="Aptos"/>
              </a:defRPr>
            </a:pPr>
            <a:r>
              <a:t>• Single-upload workflow: one CSV input triggers a structured EDA sequence.</a:t>
            </a:r>
          </a:p>
          <a:p>
            <a:pPr>
              <a:spcAft>
                <a:spcPts val="700"/>
              </a:spcAft>
              <a:defRPr sz="1700">
                <a:solidFill>
                  <a:srgbClr val="232323"/>
                </a:solidFill>
                <a:latin typeface="Aptos"/>
              </a:defRPr>
            </a:pPr>
            <a:r>
              <a:t>• Automatic selection of numerical variables for statistical and graphical analysis.</a:t>
            </a:r>
          </a:p>
          <a:p>
            <a:pPr>
              <a:spcAft>
                <a:spcPts val="700"/>
              </a:spcAft>
              <a:defRPr sz="1700">
                <a:solidFill>
                  <a:srgbClr val="232323"/>
                </a:solidFill>
                <a:latin typeface="Aptos"/>
              </a:defRPr>
            </a:pPr>
            <a:r>
              <a:t>• Integrated view of dataset summary, missing values, descriptive statistics, and visualizations.</a:t>
            </a:r>
          </a:p>
          <a:p>
            <a:pPr>
              <a:spcAft>
                <a:spcPts val="700"/>
              </a:spcAft>
              <a:defRPr sz="1700">
                <a:solidFill>
                  <a:srgbClr val="232323"/>
                </a:solidFill>
                <a:latin typeface="Aptos"/>
              </a:defRPr>
            </a:pPr>
            <a:r>
              <a:t>• Interactive controls allow users to select columns and explore relevant plots without rewriting code.</a:t>
            </a:r>
          </a:p>
          <a:p>
            <a:pPr>
              <a:spcAft>
                <a:spcPts val="700"/>
              </a:spcAft>
              <a:defRPr sz="1700">
                <a:solidFill>
                  <a:srgbClr val="232323"/>
                </a:solidFill>
                <a:latin typeface="Aptos"/>
              </a:defRPr>
            </a:pPr>
            <a:r>
              <a:t>• Reusable architecture designed for multiple structured CSV datasets.</a:t>
            </a:r>
          </a:p>
          <a:p>
            <a:pPr>
              <a:spcAft>
                <a:spcPts val="700"/>
              </a:spcAft>
              <a:defRPr sz="1700">
                <a:solidFill>
                  <a:srgbClr val="232323"/>
                </a:solidFill>
                <a:latin typeface="Aptos"/>
              </a:defRPr>
            </a:pPr>
            <a:r>
              <a:t>• Can be extended later with automated reports, additional plot types, data-quality checks, and optional ML modules.</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r>
              <a:t>10</a:t>
            </a:r>
          </a:p>
        </p:txBody>
      </p:sp>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868680" y="1737360"/>
            <a:ext cx="9235440" cy="914400"/>
          </a:xfrm>
          <a:prstGeom prst="rect">
            <a:avLst/>
          </a:prstGeom>
          <a:noFill/>
        </p:spPr>
        <p:txBody>
          <a:bodyPr wrap="square" lIns="45720" rIns="45720" anchor="t">
            <a:spAutoFit/>
          </a:bodyPr>
          <a:lstStyle/>
          <a:p>
            <a:pPr algn="l"/>
            <a:r>
              <a:rPr sz="1400" b="0">
                <a:solidFill>
                  <a:srgbClr val="1E1E1E"/>
                </a:solidFill>
                <a:latin typeface="Aptos"/>
              </a:rPr>
              <a:t>Technical: Python + Pandas/NumPy + Seaborn/Matplotlib/Plotly + Streamlit.
Operational: simple CSV upload and interactive controls; suitable for student and analyst use.
Project scope: structured CSV datasets with common numerical/categorical fields.</a:t>
            </a:r>
          </a:p>
        </p:txBody>
      </p:sp>
      <p:sp>
        <p:nvSpPr>
          <p:cNvPr id="8" name="TextBox 7"/>
          <p:cNvSpPr txBox="1"/>
          <p:nvPr/>
        </p:nvSpPr>
        <p:spPr>
          <a:xfrm>
            <a:off x="914400" y="2377439"/>
            <a:ext cx="2743200" cy="365760"/>
          </a:xfrm>
          <a:prstGeom prst="rect">
            <a:avLst/>
          </a:prstGeom>
          <a:noFill/>
        </p:spPr>
        <p:txBody>
          <a:bodyPr wrap="square" lIns="45720" rIns="45720" anchor="t">
            <a:spAutoFit/>
          </a:bodyPr>
          <a:lstStyle/>
          <a:p>
            <a:pPr algn="ctr"/>
            <a:r>
              <a:rPr sz="1200" b="1">
                <a:solidFill>
                  <a:srgbClr val="1E1E1E"/>
                </a:solidFill>
                <a:latin typeface="Aptos"/>
              </a:rPr>
              <a:t>Project Phase</a:t>
            </a:r>
          </a:p>
        </p:txBody>
      </p:sp>
      <p:sp>
        <p:nvSpPr>
          <p:cNvPr id="9" name="TextBox 8"/>
          <p:cNvSpPr txBox="1"/>
          <p:nvPr/>
        </p:nvSpPr>
        <p:spPr>
          <a:xfrm>
            <a:off x="3657600" y="2377439"/>
            <a:ext cx="1089660" cy="365760"/>
          </a:xfrm>
          <a:prstGeom prst="rect">
            <a:avLst/>
          </a:prstGeom>
          <a:noFill/>
        </p:spPr>
        <p:txBody>
          <a:bodyPr wrap="square" lIns="45720" rIns="45720" anchor="t">
            <a:spAutoFit/>
          </a:bodyPr>
          <a:lstStyle/>
          <a:p>
            <a:pPr algn="ctr"/>
            <a:r>
              <a:rPr sz="1200" b="1">
                <a:solidFill>
                  <a:srgbClr val="1E1E1E"/>
                </a:solidFill>
                <a:latin typeface="Aptos"/>
              </a:rPr>
              <a:t>W1</a:t>
            </a:r>
          </a:p>
        </p:txBody>
      </p:sp>
      <p:sp>
        <p:nvSpPr>
          <p:cNvPr id="10" name="TextBox 9"/>
          <p:cNvSpPr txBox="1"/>
          <p:nvPr/>
        </p:nvSpPr>
        <p:spPr>
          <a:xfrm>
            <a:off x="4747260" y="2377439"/>
            <a:ext cx="1089660" cy="365760"/>
          </a:xfrm>
          <a:prstGeom prst="rect">
            <a:avLst/>
          </a:prstGeom>
          <a:noFill/>
        </p:spPr>
        <p:txBody>
          <a:bodyPr wrap="square" lIns="45720" rIns="45720" anchor="t">
            <a:spAutoFit/>
          </a:bodyPr>
          <a:lstStyle/>
          <a:p>
            <a:pPr algn="ctr"/>
            <a:r>
              <a:rPr sz="1200" b="1">
                <a:solidFill>
                  <a:srgbClr val="1E1E1E"/>
                </a:solidFill>
                <a:latin typeface="Aptos"/>
              </a:rPr>
              <a:t>W2</a:t>
            </a:r>
          </a:p>
        </p:txBody>
      </p:sp>
      <p:sp>
        <p:nvSpPr>
          <p:cNvPr id="11" name="TextBox 10"/>
          <p:cNvSpPr txBox="1"/>
          <p:nvPr/>
        </p:nvSpPr>
        <p:spPr>
          <a:xfrm>
            <a:off x="5836920" y="2377439"/>
            <a:ext cx="1089660" cy="365760"/>
          </a:xfrm>
          <a:prstGeom prst="rect">
            <a:avLst/>
          </a:prstGeom>
          <a:noFill/>
        </p:spPr>
        <p:txBody>
          <a:bodyPr wrap="square" lIns="45720" rIns="45720" anchor="t">
            <a:spAutoFit/>
          </a:bodyPr>
          <a:lstStyle/>
          <a:p>
            <a:pPr algn="ctr"/>
            <a:r>
              <a:rPr sz="1200" b="1">
                <a:solidFill>
                  <a:srgbClr val="1E1E1E"/>
                </a:solidFill>
                <a:latin typeface="Aptos"/>
              </a:rPr>
              <a:t>W3</a:t>
            </a:r>
          </a:p>
        </p:txBody>
      </p:sp>
      <p:sp>
        <p:nvSpPr>
          <p:cNvPr id="12" name="TextBox 11"/>
          <p:cNvSpPr txBox="1"/>
          <p:nvPr/>
        </p:nvSpPr>
        <p:spPr>
          <a:xfrm>
            <a:off x="6926580" y="2377439"/>
            <a:ext cx="1089660" cy="365760"/>
          </a:xfrm>
          <a:prstGeom prst="rect">
            <a:avLst/>
          </a:prstGeom>
          <a:noFill/>
        </p:spPr>
        <p:txBody>
          <a:bodyPr wrap="square" lIns="45720" rIns="45720" anchor="t">
            <a:spAutoFit/>
          </a:bodyPr>
          <a:lstStyle/>
          <a:p>
            <a:pPr algn="ctr"/>
            <a:r>
              <a:rPr sz="1200" b="1">
                <a:solidFill>
                  <a:srgbClr val="1E1E1E"/>
                </a:solidFill>
                <a:latin typeface="Aptos"/>
              </a:rPr>
              <a:t>W4</a:t>
            </a:r>
          </a:p>
        </p:txBody>
      </p:sp>
      <p:sp>
        <p:nvSpPr>
          <p:cNvPr id="13" name="TextBox 12"/>
          <p:cNvSpPr txBox="1"/>
          <p:nvPr/>
        </p:nvSpPr>
        <p:spPr>
          <a:xfrm>
            <a:off x="8016239" y="2377439"/>
            <a:ext cx="1089660" cy="365760"/>
          </a:xfrm>
          <a:prstGeom prst="rect">
            <a:avLst/>
          </a:prstGeom>
          <a:noFill/>
        </p:spPr>
        <p:txBody>
          <a:bodyPr wrap="square" lIns="45720" rIns="45720" anchor="t">
            <a:spAutoFit/>
          </a:bodyPr>
          <a:lstStyle/>
          <a:p>
            <a:pPr algn="ctr"/>
            <a:r>
              <a:rPr sz="1200" b="1">
                <a:solidFill>
                  <a:srgbClr val="1E1E1E"/>
                </a:solidFill>
                <a:latin typeface="Aptos"/>
              </a:rPr>
              <a:t>W5</a:t>
            </a:r>
          </a:p>
        </p:txBody>
      </p:sp>
      <p:sp>
        <p:nvSpPr>
          <p:cNvPr id="14" name="TextBox 13"/>
          <p:cNvSpPr txBox="1"/>
          <p:nvPr/>
        </p:nvSpPr>
        <p:spPr>
          <a:xfrm>
            <a:off x="9105899" y="2377439"/>
            <a:ext cx="1089660" cy="365760"/>
          </a:xfrm>
          <a:prstGeom prst="rect">
            <a:avLst/>
          </a:prstGeom>
          <a:noFill/>
        </p:spPr>
        <p:txBody>
          <a:bodyPr wrap="square" lIns="45720" rIns="45720" anchor="t">
            <a:spAutoFit/>
          </a:bodyPr>
          <a:lstStyle/>
          <a:p>
            <a:pPr algn="ctr"/>
            <a:r>
              <a:rPr sz="1200" b="1">
                <a:solidFill>
                  <a:srgbClr val="1E1E1E"/>
                </a:solidFill>
                <a:latin typeface="Aptos"/>
              </a:rPr>
              <a:t>W6</a:t>
            </a:r>
          </a:p>
        </p:txBody>
      </p:sp>
      <p:sp>
        <p:nvSpPr>
          <p:cNvPr id="15" name="TextBox 14"/>
          <p:cNvSpPr txBox="1"/>
          <p:nvPr/>
        </p:nvSpPr>
        <p:spPr>
          <a:xfrm>
            <a:off x="914400" y="2788920"/>
            <a:ext cx="2743200" cy="438912"/>
          </a:xfrm>
          <a:prstGeom prst="rect">
            <a:avLst/>
          </a:prstGeom>
          <a:noFill/>
        </p:spPr>
        <p:txBody>
          <a:bodyPr wrap="square" lIns="45720" rIns="45720" anchor="t">
            <a:spAutoFit/>
          </a:bodyPr>
          <a:lstStyle/>
          <a:p>
            <a:pPr algn="l"/>
            <a:r>
              <a:rPr sz="1100" b="0">
                <a:solidFill>
                  <a:srgbClr val="1E1E1E"/>
                </a:solidFill>
                <a:latin typeface="Aptos"/>
              </a:rPr>
              <a:t>Requirement analysis &amp; design</a:t>
            </a:r>
          </a:p>
        </p:txBody>
      </p:sp>
      <p:sp>
        <p:nvSpPr>
          <p:cNvPr id="16" name="Rectangle 15"/>
          <p:cNvSpPr/>
          <p:nvPr/>
        </p:nvSpPr>
        <p:spPr>
          <a:xfrm>
            <a:off x="3685032" y="2816351"/>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74692" y="2816351"/>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864352"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54012"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3671"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33331"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227832"/>
            <a:ext cx="2743200" cy="438912"/>
          </a:xfrm>
          <a:prstGeom prst="rect">
            <a:avLst/>
          </a:prstGeom>
          <a:noFill/>
        </p:spPr>
        <p:txBody>
          <a:bodyPr wrap="square" lIns="45720" rIns="45720" anchor="t">
            <a:spAutoFit/>
          </a:bodyPr>
          <a:lstStyle/>
          <a:p>
            <a:pPr algn="l"/>
            <a:r>
              <a:rPr sz="1100" b="0">
                <a:solidFill>
                  <a:srgbClr val="1E1E1E"/>
                </a:solidFill>
                <a:latin typeface="Aptos"/>
              </a:rPr>
              <a:t>CSV ingestion &amp; preprocessing</a:t>
            </a:r>
          </a:p>
        </p:txBody>
      </p:sp>
      <p:sp>
        <p:nvSpPr>
          <p:cNvPr id="23" name="Rectangle 22"/>
          <p:cNvSpPr/>
          <p:nvPr/>
        </p:nvSpPr>
        <p:spPr>
          <a:xfrm>
            <a:off x="3685032"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74692" y="3255263"/>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64352" y="3255263"/>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954012"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43671"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33331"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3666744"/>
            <a:ext cx="2743200" cy="438912"/>
          </a:xfrm>
          <a:prstGeom prst="rect">
            <a:avLst/>
          </a:prstGeom>
          <a:noFill/>
        </p:spPr>
        <p:txBody>
          <a:bodyPr wrap="square" lIns="45720" rIns="45720" anchor="t">
            <a:spAutoFit/>
          </a:bodyPr>
          <a:lstStyle/>
          <a:p>
            <a:pPr algn="l"/>
            <a:r>
              <a:rPr sz="1100" b="0">
                <a:solidFill>
                  <a:srgbClr val="1E1E1E"/>
                </a:solidFill>
                <a:latin typeface="Aptos"/>
              </a:rPr>
              <a:t>EDA statistics &amp; visualizations</a:t>
            </a:r>
          </a:p>
        </p:txBody>
      </p:sp>
      <p:sp>
        <p:nvSpPr>
          <p:cNvPr id="30" name="Rectangle 29"/>
          <p:cNvSpPr/>
          <p:nvPr/>
        </p:nvSpPr>
        <p:spPr>
          <a:xfrm>
            <a:off x="3685032"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774692"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864352" y="3694176"/>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954012" y="3694176"/>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43671"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133331"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4105656"/>
            <a:ext cx="2743200" cy="438912"/>
          </a:xfrm>
          <a:prstGeom prst="rect">
            <a:avLst/>
          </a:prstGeom>
          <a:noFill/>
        </p:spPr>
        <p:txBody>
          <a:bodyPr wrap="square" lIns="45720" rIns="45720" anchor="t">
            <a:spAutoFit/>
          </a:bodyPr>
          <a:lstStyle/>
          <a:p>
            <a:pPr algn="l"/>
            <a:r>
              <a:rPr sz="1100" b="0">
                <a:solidFill>
                  <a:srgbClr val="1E1E1E"/>
                </a:solidFill>
                <a:latin typeface="Aptos"/>
              </a:rPr>
              <a:t>Streamlit dashboard integration</a:t>
            </a:r>
          </a:p>
        </p:txBody>
      </p:sp>
      <p:sp>
        <p:nvSpPr>
          <p:cNvPr id="37" name="Rectangle 36"/>
          <p:cNvSpPr/>
          <p:nvPr/>
        </p:nvSpPr>
        <p:spPr>
          <a:xfrm>
            <a:off x="368503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77469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86435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954012" y="4133088"/>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43671" y="4133088"/>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133331"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4544568"/>
            <a:ext cx="2743200" cy="438912"/>
          </a:xfrm>
          <a:prstGeom prst="rect">
            <a:avLst/>
          </a:prstGeom>
          <a:noFill/>
        </p:spPr>
        <p:txBody>
          <a:bodyPr wrap="square" lIns="45720" rIns="45720" anchor="t">
            <a:spAutoFit/>
          </a:bodyPr>
          <a:lstStyle/>
          <a:p>
            <a:pPr algn="l"/>
            <a:r>
              <a:rPr sz="1100" b="0">
                <a:solidFill>
                  <a:srgbClr val="1E1E1E"/>
                </a:solidFill>
                <a:latin typeface="Aptos"/>
              </a:rPr>
              <a:t>Testing, refinement &amp; documentation</a:t>
            </a:r>
          </a:p>
        </p:txBody>
      </p:sp>
      <p:sp>
        <p:nvSpPr>
          <p:cNvPr id="44" name="Rectangle 43"/>
          <p:cNvSpPr/>
          <p:nvPr/>
        </p:nvSpPr>
        <p:spPr>
          <a:xfrm>
            <a:off x="368503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77469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86435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95401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43671" y="4572000"/>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33331" y="4572000"/>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983479"/>
            <a:ext cx="2743200" cy="438912"/>
          </a:xfrm>
          <a:prstGeom prst="rect">
            <a:avLst/>
          </a:prstGeom>
          <a:noFill/>
        </p:spPr>
        <p:txBody>
          <a:bodyPr wrap="square" lIns="45720" rIns="45720" anchor="t">
            <a:spAutoFit/>
          </a:bodyPr>
          <a:lstStyle/>
          <a:p>
            <a:pPr algn="l"/>
            <a:r>
              <a:rPr sz="1100" b="0">
                <a:solidFill>
                  <a:srgbClr val="1E1E1E"/>
                </a:solidFill>
                <a:latin typeface="Aptos"/>
              </a:rPr>
              <a:t>Final review &amp; presentation</a:t>
            </a:r>
          </a:p>
        </p:txBody>
      </p:sp>
      <p:sp>
        <p:nvSpPr>
          <p:cNvPr id="51" name="Rectangle 50"/>
          <p:cNvSpPr/>
          <p:nvPr/>
        </p:nvSpPr>
        <p:spPr>
          <a:xfrm>
            <a:off x="368503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77469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86435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95401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43671"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133331" y="5010912"/>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4400" y="5532120"/>
            <a:ext cx="9235440" cy="320040"/>
          </a:xfrm>
          <a:prstGeom prst="rect">
            <a:avLst/>
          </a:prstGeom>
          <a:noFill/>
        </p:spPr>
        <p:txBody>
          <a:bodyPr wrap="square" lIns="45720" rIns="45720" anchor="t">
            <a:spAutoFit/>
          </a:bodyPr>
          <a:lstStyle/>
          <a:p>
            <a:pPr algn="ctr"/>
            <a:r>
              <a:rPr sz="1050" b="0">
                <a:solidFill>
                  <a:srgbClr val="1E1E1E"/>
                </a:solidFill>
                <a:latin typeface="Aptos"/>
              </a:rPr>
              <a:t>Team: B. Harneesh (Data Ingestion/Preprocessing/EDA)  |  Dhanush (Visualization/Streamlit Dashboard)</a:t>
            </a:r>
          </a:p>
        </p:txBody>
      </p:sp>
      <p:sp>
        <p:nvSpPr>
          <p:cNvPr id="58" name="TextBox 57"/>
          <p:cNvSpPr txBox="1"/>
          <p:nvPr/>
        </p:nvSpPr>
        <p:spPr>
          <a:xfrm>
            <a:off x="9646920" y="5797296"/>
            <a:ext cx="502920" cy="228600"/>
          </a:xfrm>
          <a:prstGeom prst="rect">
            <a:avLst/>
          </a:prstGeom>
          <a:noFill/>
        </p:spPr>
        <p:txBody>
          <a:bodyPr wrap="square" lIns="45720" rIns="45720" anchor="t">
            <a:spAutoFit/>
          </a:bodyPr>
          <a:lstStyle/>
          <a:p>
            <a:r>
              <a:t>11</a:t>
            </a:r>
          </a:p>
        </p:txBody>
      </p:sp>
    </p:spTree>
    <p:extLst>
      <p:ext uri="{BB962C8B-B14F-4D97-AF65-F5344CB8AC3E}">
        <p14:creationId xmlns:p14="http://schemas.microsoft.com/office/powerpoint/2010/main" val="411885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A953B-268C-1E82-2BCF-4F9BF098A22D}"/>
              </a:ext>
            </a:extLst>
          </p:cNvPr>
          <p:cNvSpPr>
            <a:spLocks noGrp="1"/>
          </p:cNvSpPr>
          <p:nvPr>
            <p:ph type="title"/>
          </p:nvPr>
        </p:nvSpPr>
        <p:spPr>
          <a:xfrm>
            <a:off x="346586" y="2294040"/>
            <a:ext cx="10773697" cy="2269920"/>
          </a:xfrm>
        </p:spPr>
        <p:txBody>
          <a:bodyPr>
            <a:normAutofit/>
          </a:bodyPr>
          <a:lstStyle/>
          <a:p>
            <a:r>
              <a:rPr lang="en-US" sz="7200" dirty="0"/>
              <a:t>				THANK YOU</a:t>
            </a:r>
            <a:endParaRPr lang="en-IN" sz="7200" dirty="0"/>
          </a:p>
        </p:txBody>
      </p:sp>
    </p:spTree>
    <p:extLst>
      <p:ext uri="{BB962C8B-B14F-4D97-AF65-F5344CB8AC3E}">
        <p14:creationId xmlns:p14="http://schemas.microsoft.com/office/powerpoint/2010/main" val="140267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1597</Words>
  <Application>Microsoft Office PowerPoint</Application>
  <PresentationFormat>Widescreen</PresentationFormat>
  <Paragraphs>181</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user</cp:lastModifiedBy>
  <cp:revision>34</cp:revision>
  <dcterms:created xsi:type="dcterms:W3CDTF">2026-08-08T06:33:56Z</dcterms:created>
  <dcterms:modified xsi:type="dcterms:W3CDTF">2026-10-16T03:25:31Z</dcterms:modified>
</cp:coreProperties>
</file>